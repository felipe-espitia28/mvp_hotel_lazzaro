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o" id="{ea2a0b22-61ae-c678-3067-924fc6e59297}">
          <p14:sldIdLst>
            <p14:sldId id="256"/>
            <p14:sldId id="257"/>
            <p14:sldId id="258"/>
          </p14:sldIdLst>
        </p14:section>
        <p14:section name="Producto" id="{3e74207b-a9ba-f933-310f-38f6154f22b9}">
          <p14:sldIdLst>
            <p14:sldId id="259"/>
            <p14:sldId id="260"/>
          </p14:sldIdLst>
        </p14:section>
        <p14:section name="Arquitectura" id="{ddaa775b-7cbc-e401-af6a-e736ce70b4ed}">
          <p14:sldIdLst>
            <p14:sldId id="261"/>
            <p14:sldId id="262"/>
            <p14:sldId id="263"/>
            <p14:sldId id="264"/>
            <p14:sldId id="265"/>
            <p14:sldId id="266"/>
            <p14:sldId id="267"/>
            <p14:sldId id="268"/>
            <p14:sldId id="269"/>
            <p14:sldId id="270"/>
          </p14:sldIdLst>
        </p14:section>
        <p14:section name="Calidad" id="{82f55ed8-161b-b38f-31d0-5c59026d025e}">
          <p14:sldIdLst>
            <p14:sldId id="271"/>
          </p14:sldIdLst>
        </p14:section>
        <p14:section name="Hoja de ruta" id="{52fcd950-7030-d00f-1690-eca626db91fd}">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Pruebas</c:v>
                </c:pt>
              </c:strCache>
            </c:strRef>
          </c:tx>
          <c:spPr>
            <a:solidFill>
              <a:srgbClr val="0F1B2D"/>
            </a:solidFill>
            <a:effectLst/>
          </c:spPr>
          <c:invertIfNegative val="0"/>
          <c:dLbls>
            <c:numFmt formatCode="#,##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Backend e2e (PostgreSQL real)</c:v>
                  </c:pt>
                  <c:pt idx="1">
                    <c:v>Backend unitarias (tarifas)</c:v>
                  </c:pt>
                  <c:pt idx="2">
                    <c:v>Frontend (Vitest)</c:v>
                  </c:pt>
                </c:lvl>
              </c:multiLvlStrCache>
            </c:multiLvlStrRef>
          </c:cat>
          <c:val>
            <c:numRef>
              <c:f>Sheet1!$B$2:$B$4</c:f>
              <c:numCache>
                <c:formatCode>General</c:formatCode>
                <c:ptCount val="3"/>
                <c:pt idx="0">
                  <c:v>160</c:v>
                </c:pt>
                <c:pt idx="1">
                  <c:v>24</c:v>
                </c:pt>
                <c:pt idx="2">
                  <c:v>12</c:v>
                </c:pt>
              </c:numCache>
            </c:numRef>
          </c:val>
        </c:ser>
        <c:dLbls>
          <c:numFmt formatCode="#,##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24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MVP del módulo hotelero. Idea central: resolvemos un problema real del negocio, y cada regla crítica está garantizada y probada.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mesa se ocupa y se libera en el momento; una habitación se compromete a futuro por fechas, cambia de precio en temporada alta y acumula consumos durante días. Eso hoy no existe en Lazaro.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pilares. Todo funciona de punta a punta: interfaz, API y base de datos. Es un prototipo independiente que se integraría con Lazaro (.NET) por su API HTTP.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Hoy: ocupación, llegadas, salidas, habitaciones por limpiar e ingresos del mes. El gráfico muestra la ocupación de las próximas 14 noches.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calendario muestra barras por estado. En reservas el sistema ya indica si cancelar es gratis o cobra penalidad.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capas. Toda petición pasa por una guardia global. El núcleo de tarifas es dominio puro y se prueba sin base de datos. PostgreSQL es obligatorio: la garantía contra la sobreventa es una restricción suya.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endpoints piden permisos, no roles: cambiar qué puede hacer un rol es editar una tabla, sin tocar los controladores.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garantía no es un if: es una restricción de PostgreSQL. Node.js es de un solo hilo, pero dos peticiones se intercalan en cada await. Lo comprobamos: sin la restricción, 10 reservas simultáneas vendían la habitación 10 veces.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regla crítica se protege en el lugar correcto (base de datos o transacción) y tiene una prueba automática que la demuestra, incluso con concurrencia.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principal reclamo actual: no se puede cobrar más en temporada alta. El hotel no tiene que mantener un calendario: se calcula.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cancelar o marcar no-show, las fechas quedan disponibles de inmediato. Una estadía activa no se cancela: se cierra con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sola cuenta por estadía. La integración clave a futuro: el "cargar a la habitación" del POS de Lazaro llega automático al 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administrador no puede desactivarse a sí mismo: el hotel nunca se queda sin administradores. Los usuarios no se borran, se desactivan, para conservar el historial.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reserva es el centro. El usuario también registra los cargos del folio. La FK RESTRICT impide borrar un usuario con acciones registradas.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pruebas e2e corren contra un PostgreSQL real porque la restricción EXCLUDE no se puede simular con mocks. El reloj es inyectable para probar las reglas que dependen de la hora.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clave para pagos: el pago se considera hecho solo cuando llega la confirmación de la pasarela por webhook, idempotente y con firma verificada, nunca por lo que diga el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reglas de negocio R1 a R36 están documentadas en docs/REGLAS_DE_NEGOCIO.md. Lo marcado con balanza debe validarse con contador o asesor legal antes de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Escenarios del seed: 101 Carlos alojado con consumos; 201 Ana llega hoy; 202 Luis, habitación en limpieza; 301 Sofía, cancelación gratuita; 102 Pedro, no-show; 302 Valentina, estadía cerrada; 302 Jorge, cancelación tardía.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196 pruebas automáticas, documentación de la API en /docs y la demo se levanta con un solo comando.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O">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585216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931920"/>
            <a:ext cx="5669280" cy="1280160"/>
          </a:xfrm>
          <a:prstGeom prst="rect">
            <a:avLst/>
          </a:prstGeom>
          <a:noFill/>
          <a:ln/>
        </p:spPr>
        <p:txBody>
          <a:bodyPr wrap="square" rtlCol="0"/>
          <a:lstStyle>
            <a:lvl1pPr indent="0" marL="0">
              <a:buNone/>
              <a:defRPr lang="en-US" sz="1800" dirty="0">
                <a:solidFill>
                  <a:srgbClr val="D6DCE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743200"/>
            <a:ext cx="1088136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886200"/>
            <a:ext cx="10881360" cy="73152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MVP Hotel · Módulo hotelero para Lazaro Software</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40080"/>
            <a:ext cx="685800" cy="685800"/>
          </a:xfrm>
          <a:prstGeom prst="rect">
            <a:avLst/>
          </a:prstGeom>
        </p:spPr>
      </p:pic>
      <p:sp>
        <p:nvSpPr>
          <p:cNvPr id="3" name="Text 0"/>
          <p:cNvSpPr txBox="1"/>
          <p:nvPr/>
        </p:nvSpPr>
        <p:spPr>
          <a:xfrm>
            <a:off x="1463040" y="621792"/>
            <a:ext cx="3657600" cy="73152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MVP Hotel</a:t>
            </a:r>
            <a:endParaRPr lang="en-US" sz="2000" dirty="0"/>
          </a:p>
          <a:p>
            <a:pPr indent="0" marL="0">
              <a:buNone/>
            </a:pPr>
            <a:r>
              <a:rPr lang="en-US" sz="1100" spc="300" kern="0" dirty="0">
                <a:solidFill>
                  <a:schemeClr val="accent1"/>
                </a:solidFill>
              </a:rPr>
              <a:t>LAZARO SOFTWARE</a:t>
            </a:r>
            <a:endParaRPr lang="en-US" sz="2000" dirty="0"/>
          </a:p>
        </p:txBody>
      </p:sp>
      <p:sp>
        <p:nvSpPr>
          <p:cNvPr id="4" name="Text 0"/>
          <p:cNvSpPr/>
          <p:nvPr>
            <p:ph idx="100" type="title" hasCustomPrompt="1"/>
          </p:nvPr>
        </p:nvSpPr>
        <p:spPr>
          <a:xfrm>
            <a:off x="640080" y="2011680"/>
            <a:ext cx="5852160" cy="17373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Módulo hotelero para Lazaro Software</a:t>
            </a:r>
            <a:endParaRPr lang="en-US" sz="4000" dirty="0"/>
          </a:p>
        </p:txBody>
      </p:sp>
      <p:sp>
        <p:nvSpPr>
          <p:cNvPr id="5" name="Text 0"/>
          <p:cNvSpPr/>
          <p:nvPr>
            <p:ph idx="101" type="body" hasCustomPrompt="1"/>
          </p:nvPr>
        </p:nvSpPr>
        <p:spPr>
          <a:xfrm>
            <a:off x="640080" y="3931920"/>
            <a:ext cx="5669280" cy="1280160"/>
          </a:xfrm>
          <a:prstGeom prst="rect">
            <a:avLst/>
          </a:prstGeom>
          <a:noFill/>
          <a:ln/>
        </p:spPr>
        <p:txBody>
          <a:bodyPr wrap="square" lIns="0" tIns="0" rIns="0" bIns="0" rtlCol="0" anchor="t"/>
          <a:lstStyle/>
          <a:p>
            <a:pPr indent="0" marL="0">
              <a:buNone/>
            </a:pPr>
            <a:r>
              <a:rPr lang="en-US" sz="1800" dirty="0">
                <a:solidFill>
                  <a:srgbClr val="D6DCE6"/>
                </a:solidFill>
              </a:rPr>
              <a:t>Reservas por fechas sin sobreventa, tarifas por temporada, folio de consumos y operación diaria de recepción. Propuesta técnica y de negocio · Octubre 2026</a:t>
            </a:r>
            <a:endParaRPr lang="en-US" sz="1800" dirty="0"/>
          </a:p>
        </p:txBody>
      </p:sp>
      <p:pic>
        <p:nvPicPr>
          <p:cNvPr id="6" name="Image 1" descr="/tmp/claude-0/shots/hoy.png">    </p:cNvPr>
          <p:cNvPicPr>
            <a:picLocks noChangeAspect="1"/>
          </p:cNvPicPr>
          <p:nvPr/>
        </p:nvPicPr>
        <p:blipFill>
          <a:blip r:embed="rId2"/>
          <a:stretch>
            <a:fillRect/>
          </a:stretch>
        </p:blipFill>
        <p:spPr>
          <a:xfrm>
            <a:off x="6858000" y="1417320"/>
            <a:ext cx="4937760" cy="3086100"/>
          </a:xfrm>
          <a:prstGeom prst="rect">
            <a:avLst/>
          </a:prstGeom>
          <a:effectLst>
            <a:outerShdw sx="100000" sy="100000" kx="0" ky="0" algn="bl" rotWithShape="0" blurRad="228600" dist="76200" dir="5400000">
              <a:srgbClr val="000000">
                <a:alpha val="45000"/>
              </a:srgbClr>
            </a:outerShdw>
          </a:effectLst>
        </p:spPr>
      </p:pic>
      <p:sp>
        <p:nvSpPr>
          <p:cNvPr id="7" name="Text 3"/>
          <p:cNvSpPr txBox="1"/>
          <p:nvPr/>
        </p:nvSpPr>
        <p:spPr>
          <a:xfrm>
            <a:off x="6858000" y="4617720"/>
            <a:ext cx="4937760" cy="274320"/>
          </a:xfrm>
          <a:prstGeom prst="rect">
            <a:avLst/>
          </a:prstGeom>
          <a:noFill/>
          <a:ln/>
        </p:spPr>
        <p:txBody>
          <a:bodyPr wrap="square" lIns="0" tIns="0" rIns="0" bIns="0" rtlCol="0" anchor="ctr"/>
          <a:lstStyle/>
          <a:p>
            <a:pPr indent="0" marL="0">
              <a:buNone/>
            </a:pPr>
            <a:r>
              <a:rPr lang="en-US" sz="1100" i="1" dirty="0">
                <a:solidFill>
                  <a:srgbClr val="AEB8C8"/>
                </a:solidFill>
              </a:rPr>
              <a:t>Panel "Hoy" del MVP funcionando con datos de demostración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Una habitación no es una mesa</a:t>
            </a:r>
            <a:endParaRPr lang="en-US" sz="3200" dirty="0"/>
          </a:p>
        </p:txBody>
      </p:sp>
      <p:sp>
        <p:nvSpPr>
          <p:cNvPr id="3" name="Text 1"/>
          <p:cNvSpPr txBox="1"/>
          <p:nvPr/>
        </p:nvSpPr>
        <p:spPr>
          <a:xfrm>
            <a:off x="548640" y="1143000"/>
            <a:ext cx="11064240" cy="457200"/>
          </a:xfrm>
          <a:prstGeom prst="rect">
            <a:avLst/>
          </a:prstGeom>
          <a:noFill/>
          <a:ln/>
        </p:spPr>
        <p:txBody>
          <a:bodyPr wrap="square" lIns="0" tIns="0" rIns="0" bIns="0" rtlCol="0" anchor="ctr"/>
          <a:lstStyle/>
          <a:p>
            <a:pPr indent="0" marL="0">
              <a:buNone/>
            </a:pPr>
            <a:r>
              <a:rPr lang="en-US" sz="1600" dirty="0">
                <a:solidFill>
                  <a:schemeClr val="accent6"/>
                </a:solidFill>
              </a:rPr>
              <a:t>Hoy Lazaro maneja los hoteles con su modelo de restaurantes. Ese modelo no sirve para vender noches a futuro.</a:t>
            </a:r>
            <a:endParaRPr lang="en-US" sz="1600" dirty="0"/>
          </a:p>
        </p:txBody>
      </p:sp>
      <p:sp>
        <p:nvSpPr>
          <p:cNvPr id="4" name="Shape 2"/>
          <p:cNvSpPr/>
          <p:nvPr/>
        </p:nvSpPr>
        <p:spPr>
          <a:xfrm>
            <a:off x="548640" y="1828800"/>
            <a:ext cx="5349240" cy="2514600"/>
          </a:xfrm>
          <a:prstGeom prst="roundRect">
            <a:avLst>
              <a:gd name="adj" fmla="val 4364"/>
            </a:avLst>
          </a:prstGeom>
          <a:solidFill>
            <a:schemeClr val="bg2"/>
          </a:solidFill>
          <a:ln w="12700">
            <a:solidFill>
              <a:schemeClr val="bg2"/>
            </a:solidFill>
            <a:prstDash val="solid"/>
          </a:ln>
        </p:spPr>
      </p:sp>
      <p:sp>
        <p:nvSpPr>
          <p:cNvPr id="5" name="Shape 3"/>
          <p:cNvSpPr/>
          <p:nvPr/>
        </p:nvSpPr>
        <p:spPr>
          <a:xfrm>
            <a:off x="868680" y="2103120"/>
            <a:ext cx="548640" cy="54864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989381" y="2223821"/>
            <a:ext cx="307238" cy="307238"/>
          </a:xfrm>
          <a:prstGeom prst="rect">
            <a:avLst/>
          </a:prstGeom>
        </p:spPr>
      </p:pic>
      <p:sp>
        <p:nvSpPr>
          <p:cNvPr id="7" name="Text 4"/>
          <p:cNvSpPr txBox="1"/>
          <p:nvPr/>
        </p:nvSpPr>
        <p:spPr>
          <a:xfrm>
            <a:off x="1600200" y="2103120"/>
            <a:ext cx="4114800" cy="5486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Mesa · modelo actual</a:t>
            </a:r>
            <a:endParaRPr lang="en-US" sz="2000" dirty="0"/>
          </a:p>
        </p:txBody>
      </p:sp>
      <p:sp>
        <p:nvSpPr>
          <p:cNvPr id="8" name="Text 5"/>
          <p:cNvSpPr txBox="1"/>
          <p:nvPr/>
        </p:nvSpPr>
        <p:spPr>
          <a:xfrm>
            <a:off x="868680" y="2834640"/>
            <a:ext cx="4754880" cy="137160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chemeClr val="tx1"/>
                </a:solidFill>
              </a:rPr>
              <a:t>Se ocupa y se libera en el momento</a:t>
            </a:r>
            <a:endParaRPr lang="en-US" sz="1600" dirty="0"/>
          </a:p>
          <a:p>
            <a:pPr marL="342900" indent="-342900">
              <a:spcAft>
                <a:spcPts val="600"/>
              </a:spcAft>
              <a:buSzPct val="100000"/>
              <a:buChar char="•"/>
            </a:pPr>
            <a:r>
              <a:rPr lang="en-US" sz="1600" dirty="0">
                <a:solidFill>
                  <a:schemeClr val="tx1"/>
                </a:solidFill>
              </a:rPr>
              <a:t>Precio fijo, igual todos los días</a:t>
            </a:r>
            <a:endParaRPr lang="en-US" sz="1600" dirty="0"/>
          </a:p>
          <a:p>
            <a:pPr marL="342900" indent="-342900">
              <a:spcAft>
                <a:spcPts val="600"/>
              </a:spcAft>
              <a:buSzPct val="100000"/>
              <a:buChar char="•"/>
            </a:pPr>
            <a:r>
              <a:rPr lang="en-US" sz="1600" dirty="0">
                <a:solidFill>
                  <a:schemeClr val="tx1"/>
                </a:solidFill>
              </a:rPr>
              <a:t>La cuenta se cierra al levantarse</a:t>
            </a:r>
            <a:endParaRPr lang="en-US" sz="1600" dirty="0"/>
          </a:p>
        </p:txBody>
      </p:sp>
      <p:sp>
        <p:nvSpPr>
          <p:cNvPr id="9" name="Shape 6"/>
          <p:cNvSpPr/>
          <p:nvPr/>
        </p:nvSpPr>
        <p:spPr>
          <a:xfrm>
            <a:off x="6263640" y="1828800"/>
            <a:ext cx="5349240" cy="2514600"/>
          </a:xfrm>
          <a:prstGeom prst="roundRect">
            <a:avLst>
              <a:gd name="adj" fmla="val 4364"/>
            </a:avLst>
          </a:prstGeom>
          <a:solidFill>
            <a:schemeClr val="tx2"/>
          </a:solidFill>
          <a:ln w="12700">
            <a:solidFill>
              <a:schemeClr val="tx2"/>
            </a:solidFill>
            <a:prstDash val="solid"/>
          </a:ln>
        </p:spPr>
      </p:sp>
      <p:sp>
        <p:nvSpPr>
          <p:cNvPr id="10" name="Shape 7"/>
          <p:cNvSpPr/>
          <p:nvPr/>
        </p:nvSpPr>
        <p:spPr>
          <a:xfrm>
            <a:off x="6583680" y="2103120"/>
            <a:ext cx="548640" cy="54864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6704381" y="2223821"/>
            <a:ext cx="307238" cy="307238"/>
          </a:xfrm>
          <a:prstGeom prst="rect">
            <a:avLst/>
          </a:prstGeom>
        </p:spPr>
      </p:pic>
      <p:sp>
        <p:nvSpPr>
          <p:cNvPr id="12" name="Text 8"/>
          <p:cNvSpPr txBox="1"/>
          <p:nvPr/>
        </p:nvSpPr>
        <p:spPr>
          <a:xfrm>
            <a:off x="7315200" y="2103120"/>
            <a:ext cx="4114800" cy="54864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Habitación · lo que el hotel necesita</a:t>
            </a:r>
            <a:endParaRPr lang="en-US" sz="2000" dirty="0"/>
          </a:p>
        </p:txBody>
      </p:sp>
      <p:sp>
        <p:nvSpPr>
          <p:cNvPr id="13" name="Text 9"/>
          <p:cNvSpPr txBox="1"/>
          <p:nvPr/>
        </p:nvSpPr>
        <p:spPr>
          <a:xfrm>
            <a:off x="6583680" y="2834640"/>
            <a:ext cx="4754880" cy="137160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chemeClr val="bg1"/>
                </a:solidFill>
              </a:rPr>
              <a:t>Se compromete a futuro por un rango de fechas</a:t>
            </a:r>
            <a:endParaRPr lang="en-US" sz="1600" dirty="0"/>
          </a:p>
          <a:p>
            <a:pPr marL="342900" indent="-342900">
              <a:spcAft>
                <a:spcPts val="600"/>
              </a:spcAft>
              <a:buSzPct val="100000"/>
              <a:buChar char="•"/>
            </a:pPr>
            <a:r>
              <a:rPr lang="en-US" sz="1600" dirty="0">
                <a:solidFill>
                  <a:schemeClr val="bg1"/>
                </a:solidFill>
              </a:rPr>
              <a:t>El precio cambia según la temporada de cada noche</a:t>
            </a:r>
            <a:endParaRPr lang="en-US" sz="1600" dirty="0"/>
          </a:p>
          <a:p>
            <a:pPr marL="342900" indent="-342900">
              <a:spcAft>
                <a:spcPts val="600"/>
              </a:spcAft>
              <a:buSzPct val="100000"/>
              <a:buChar char="•"/>
            </a:pPr>
            <a:r>
              <a:rPr lang="en-US" sz="1600" dirty="0">
                <a:solidFill>
                  <a:schemeClr val="bg1"/>
                </a:solidFill>
              </a:rPr>
              <a:t>Acumula consumos durante varios días (folio)</a:t>
            </a:r>
            <a:endParaRPr lang="en-US" sz="1600" dirty="0"/>
          </a:p>
        </p:txBody>
      </p:sp>
      <p:sp>
        <p:nvSpPr>
          <p:cNvPr id="14" name="Text 10"/>
          <p:cNvSpPr txBox="1"/>
          <p:nvPr/>
        </p:nvSpPr>
        <p:spPr>
          <a:xfrm>
            <a:off x="548640" y="4572000"/>
            <a:ext cx="5486400" cy="365760"/>
          </a:xfrm>
          <a:prstGeom prst="rect">
            <a:avLst/>
          </a:prstGeom>
          <a:noFill/>
          <a:ln/>
        </p:spPr>
        <p:txBody>
          <a:bodyPr wrap="square" lIns="0" tIns="0" rIns="0" bIns="0" rtlCol="0" anchor="ctr"/>
          <a:lstStyle/>
          <a:p>
            <a:pPr indent="0" marL="0">
              <a:buNone/>
            </a:pPr>
            <a:r>
              <a:rPr lang="en-US" sz="1500" b="1" dirty="0">
                <a:solidFill>
                  <a:schemeClr val="tx2"/>
                </a:solidFill>
              </a:rPr>
              <a:t>Por eso hoy el hotel no puede:</a:t>
            </a:r>
            <a:endParaRPr lang="en-US" sz="1500" dirty="0"/>
          </a:p>
        </p:txBody>
      </p:sp>
      <p:sp>
        <p:nvSpPr>
          <p:cNvPr id="15" name="Shape 11"/>
          <p:cNvSpPr/>
          <p:nvPr/>
        </p:nvSpPr>
        <p:spPr>
          <a:xfrm>
            <a:off x="548640" y="5029200"/>
            <a:ext cx="502920" cy="502920"/>
          </a:xfrm>
          <a:prstGeom prst="ellipse">
            <a:avLst/>
          </a:prstGeom>
          <a:solidFill>
            <a:schemeClr val="bg2"/>
          </a:solidFill>
          <a:ln w="12700">
            <a:solidFill>
              <a:schemeClr val="bg2"/>
            </a:solidFill>
            <a:prstDash val="solid"/>
          </a:ln>
        </p:spPr>
      </p:sp>
      <p:pic>
        <p:nvPicPr>
          <p:cNvPr id="16" name="Image 2" descr="preencoded.png">    </p:cNvPr>
          <p:cNvPicPr>
            <a:picLocks noChangeAspect="1"/>
          </p:cNvPicPr>
          <p:nvPr/>
        </p:nvPicPr>
        <p:blipFill>
          <a:blip r:embed="rId3"/>
          <a:stretch>
            <a:fillRect/>
          </a:stretch>
        </p:blipFill>
        <p:spPr>
          <a:xfrm>
            <a:off x="659282" y="5139842"/>
            <a:ext cx="281635" cy="281635"/>
          </a:xfrm>
          <a:prstGeom prst="rect">
            <a:avLst/>
          </a:prstGeom>
        </p:spPr>
      </p:pic>
      <p:sp>
        <p:nvSpPr>
          <p:cNvPr id="17" name="Text 12"/>
          <p:cNvSpPr txBox="1"/>
          <p:nvPr/>
        </p:nvSpPr>
        <p:spPr>
          <a:xfrm>
            <a:off x="1188720" y="5029200"/>
            <a:ext cx="2103120" cy="502920"/>
          </a:xfrm>
          <a:prstGeom prst="rect">
            <a:avLst/>
          </a:prstGeom>
          <a:noFill/>
          <a:ln/>
        </p:spPr>
        <p:txBody>
          <a:bodyPr wrap="square" lIns="0" tIns="0" rIns="0" bIns="0" rtlCol="0" anchor="ctr"/>
          <a:lstStyle/>
          <a:p>
            <a:pPr indent="0" marL="0">
              <a:buNone/>
            </a:pPr>
            <a:r>
              <a:rPr lang="en-US" sz="1400" dirty="0">
                <a:solidFill>
                  <a:schemeClr val="tx1"/>
                </a:solidFill>
              </a:rPr>
              <a:t>Ver disponibilidad futura</a:t>
            </a:r>
            <a:endParaRPr lang="en-US" sz="1400" dirty="0"/>
          </a:p>
        </p:txBody>
      </p:sp>
      <p:sp>
        <p:nvSpPr>
          <p:cNvPr id="18" name="Shape 13"/>
          <p:cNvSpPr/>
          <p:nvPr/>
        </p:nvSpPr>
        <p:spPr>
          <a:xfrm>
            <a:off x="3383280" y="5029200"/>
            <a:ext cx="502920" cy="502920"/>
          </a:xfrm>
          <a:prstGeom prst="ellipse">
            <a:avLst/>
          </a:prstGeom>
          <a:solidFill>
            <a:schemeClr val="bg2"/>
          </a:solidFill>
          <a:ln w="12700">
            <a:solidFill>
              <a:schemeClr val="bg2"/>
            </a:solidFill>
            <a:prstDash val="solid"/>
          </a:ln>
        </p:spPr>
      </p:sp>
      <p:pic>
        <p:nvPicPr>
          <p:cNvPr id="19" name="Image 3" descr="preencoded.png">    </p:cNvPr>
          <p:cNvPicPr>
            <a:picLocks noChangeAspect="1"/>
          </p:cNvPicPr>
          <p:nvPr/>
        </p:nvPicPr>
        <p:blipFill>
          <a:blip r:embed="rId4"/>
          <a:stretch>
            <a:fillRect/>
          </a:stretch>
        </p:blipFill>
        <p:spPr>
          <a:xfrm>
            <a:off x="3493922" y="5139842"/>
            <a:ext cx="281635" cy="281635"/>
          </a:xfrm>
          <a:prstGeom prst="rect">
            <a:avLst/>
          </a:prstGeom>
        </p:spPr>
      </p:pic>
      <p:sp>
        <p:nvSpPr>
          <p:cNvPr id="20" name="Text 14"/>
          <p:cNvSpPr txBox="1"/>
          <p:nvPr/>
        </p:nvSpPr>
        <p:spPr>
          <a:xfrm>
            <a:off x="4023360" y="5029200"/>
            <a:ext cx="2103120" cy="502920"/>
          </a:xfrm>
          <a:prstGeom prst="rect">
            <a:avLst/>
          </a:prstGeom>
          <a:noFill/>
          <a:ln/>
        </p:spPr>
        <p:txBody>
          <a:bodyPr wrap="square" lIns="0" tIns="0" rIns="0" bIns="0" rtlCol="0" anchor="ctr"/>
          <a:lstStyle/>
          <a:p>
            <a:pPr indent="0" marL="0">
              <a:buNone/>
            </a:pPr>
            <a:r>
              <a:rPr lang="en-US" sz="1400" dirty="0">
                <a:solidFill>
                  <a:schemeClr val="tx1"/>
                </a:solidFill>
              </a:rPr>
              <a:t>Evitar vender dos veces</a:t>
            </a:r>
            <a:endParaRPr lang="en-US" sz="1400" dirty="0"/>
          </a:p>
        </p:txBody>
      </p:sp>
      <p:sp>
        <p:nvSpPr>
          <p:cNvPr id="21" name="Shape 15"/>
          <p:cNvSpPr/>
          <p:nvPr/>
        </p:nvSpPr>
        <p:spPr>
          <a:xfrm>
            <a:off x="6217920" y="5029200"/>
            <a:ext cx="502920" cy="502920"/>
          </a:xfrm>
          <a:prstGeom prst="ellipse">
            <a:avLst/>
          </a:prstGeom>
          <a:solidFill>
            <a:schemeClr val="bg2"/>
          </a:solidFill>
          <a:ln w="12700">
            <a:solidFill>
              <a:schemeClr val="bg2"/>
            </a:solidFill>
            <a:prstDash val="solid"/>
          </a:ln>
        </p:spPr>
      </p:sp>
      <p:pic>
        <p:nvPicPr>
          <p:cNvPr id="22" name="Image 4" descr="preencoded.png">    </p:cNvPr>
          <p:cNvPicPr>
            <a:picLocks noChangeAspect="1"/>
          </p:cNvPicPr>
          <p:nvPr/>
        </p:nvPicPr>
        <p:blipFill>
          <a:blip r:embed="rId5"/>
          <a:stretch>
            <a:fillRect/>
          </a:stretch>
        </p:blipFill>
        <p:spPr>
          <a:xfrm>
            <a:off x="6328562" y="5139842"/>
            <a:ext cx="281635" cy="281635"/>
          </a:xfrm>
          <a:prstGeom prst="rect">
            <a:avLst/>
          </a:prstGeom>
        </p:spPr>
      </p:pic>
      <p:sp>
        <p:nvSpPr>
          <p:cNvPr id="23" name="Text 16"/>
          <p:cNvSpPr txBox="1"/>
          <p:nvPr/>
        </p:nvSpPr>
        <p:spPr>
          <a:xfrm>
            <a:off x="6858000" y="5029200"/>
            <a:ext cx="2103120" cy="502920"/>
          </a:xfrm>
          <a:prstGeom prst="rect">
            <a:avLst/>
          </a:prstGeom>
          <a:noFill/>
          <a:ln/>
        </p:spPr>
        <p:txBody>
          <a:bodyPr wrap="square" lIns="0" tIns="0" rIns="0" bIns="0" rtlCol="0" anchor="ctr"/>
          <a:lstStyle/>
          <a:p>
            <a:pPr indent="0" marL="0">
              <a:buNone/>
            </a:pPr>
            <a:r>
              <a:rPr lang="en-US" sz="1400" dirty="0">
                <a:solidFill>
                  <a:schemeClr val="tx1"/>
                </a:solidFill>
              </a:rPr>
              <a:t>Cobrar temporada alta</a:t>
            </a:r>
            <a:endParaRPr lang="en-US" sz="1400" dirty="0"/>
          </a:p>
        </p:txBody>
      </p:sp>
      <p:sp>
        <p:nvSpPr>
          <p:cNvPr id="24" name="Shape 17"/>
          <p:cNvSpPr/>
          <p:nvPr/>
        </p:nvSpPr>
        <p:spPr>
          <a:xfrm>
            <a:off x="9052560" y="5029200"/>
            <a:ext cx="502920" cy="502920"/>
          </a:xfrm>
          <a:prstGeom prst="ellipse">
            <a:avLst/>
          </a:prstGeom>
          <a:solidFill>
            <a:schemeClr val="bg2"/>
          </a:solidFill>
          <a:ln w="12700">
            <a:solidFill>
              <a:schemeClr val="bg2"/>
            </a:solidFill>
            <a:prstDash val="solid"/>
          </a:ln>
        </p:spPr>
      </p:sp>
      <p:pic>
        <p:nvPicPr>
          <p:cNvPr id="25" name="Image 5" descr="preencoded.png">    </p:cNvPr>
          <p:cNvPicPr>
            <a:picLocks noChangeAspect="1"/>
          </p:cNvPicPr>
          <p:nvPr/>
        </p:nvPicPr>
        <p:blipFill>
          <a:blip r:embed="rId6"/>
          <a:stretch>
            <a:fillRect/>
          </a:stretch>
        </p:blipFill>
        <p:spPr>
          <a:xfrm>
            <a:off x="9163202" y="5139842"/>
            <a:ext cx="281635" cy="281635"/>
          </a:xfrm>
          <a:prstGeom prst="rect">
            <a:avLst/>
          </a:prstGeom>
        </p:spPr>
      </p:pic>
      <p:sp>
        <p:nvSpPr>
          <p:cNvPr id="26" name="Text 18"/>
          <p:cNvSpPr txBox="1"/>
          <p:nvPr/>
        </p:nvSpPr>
        <p:spPr>
          <a:xfrm>
            <a:off x="9692640" y="5029200"/>
            <a:ext cx="2103120" cy="502920"/>
          </a:xfrm>
          <a:prstGeom prst="rect">
            <a:avLst/>
          </a:prstGeom>
          <a:noFill/>
          <a:ln/>
        </p:spPr>
        <p:txBody>
          <a:bodyPr wrap="square" lIns="0" tIns="0" rIns="0" bIns="0" rtlCol="0" anchor="ctr"/>
          <a:lstStyle/>
          <a:p>
            <a:pPr indent="0" marL="0">
              <a:buNone/>
            </a:pPr>
            <a:r>
              <a:rPr lang="en-US" sz="1400" dirty="0">
                <a:solidFill>
                  <a:schemeClr val="tx1"/>
                </a:solidFill>
              </a:rPr>
              <a:t>Cargar consumos a la habitación</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 propuesta: un módulo hotelero propio</a:t>
            </a:r>
            <a:endParaRPr lang="en-US" sz="3200" dirty="0"/>
          </a:p>
        </p:txBody>
      </p:sp>
      <p:sp>
        <p:nvSpPr>
          <p:cNvPr id="3" name="Shape 1"/>
          <p:cNvSpPr/>
          <p:nvPr/>
        </p:nvSpPr>
        <p:spPr>
          <a:xfrm>
            <a:off x="548640" y="1417320"/>
            <a:ext cx="2560320" cy="3657600"/>
          </a:xfrm>
          <a:prstGeom prst="roundRect">
            <a:avLst>
              <a:gd name="adj" fmla="val 4286"/>
            </a:avLst>
          </a:prstGeom>
          <a:solidFill>
            <a:schemeClr val="bg2"/>
          </a:solidFill>
          <a:ln w="12700">
            <a:solidFill>
              <a:schemeClr val="bg2"/>
            </a:solidFill>
            <a:prstDash val="solid"/>
          </a:ln>
        </p:spPr>
      </p:sp>
      <p:sp>
        <p:nvSpPr>
          <p:cNvPr id="4" name="Shape 2"/>
          <p:cNvSpPr/>
          <p:nvPr/>
        </p:nvSpPr>
        <p:spPr>
          <a:xfrm>
            <a:off x="822960" y="1691640"/>
            <a:ext cx="685800" cy="685800"/>
          </a:xfrm>
          <a:prstGeom prst="ellipse">
            <a:avLst/>
          </a:prstGeom>
          <a:solidFill>
            <a:schemeClr val="tx2"/>
          </a:solidFill>
          <a:ln w="12700">
            <a:solidFill>
              <a:schemeClr val="tx2"/>
            </a:solidFill>
            <a:prstDash val="solid"/>
          </a:ln>
        </p:spPr>
      </p:sp>
      <p:pic>
        <p:nvPicPr>
          <p:cNvPr id="5" name="Image 0" descr="preencoded.png">    </p:cNvPr>
          <p:cNvPicPr>
            <a:picLocks noChangeAspect="1"/>
          </p:cNvPicPr>
          <p:nvPr/>
        </p:nvPicPr>
        <p:blipFill>
          <a:blip r:embed="rId1"/>
          <a:stretch>
            <a:fillRect/>
          </a:stretch>
        </p:blipFill>
        <p:spPr>
          <a:xfrm>
            <a:off x="973836" y="1842516"/>
            <a:ext cx="384048" cy="384048"/>
          </a:xfrm>
          <a:prstGeom prst="rect">
            <a:avLst/>
          </a:prstGeom>
        </p:spPr>
      </p:pic>
      <p:sp>
        <p:nvSpPr>
          <p:cNvPr id="6" name="Text 3"/>
          <p:cNvSpPr txBox="1"/>
          <p:nvPr/>
        </p:nvSpPr>
        <p:spPr>
          <a:xfrm>
            <a:off x="822960" y="2606040"/>
            <a:ext cx="2103120" cy="77724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Reservas sin sobreventa</a:t>
            </a:r>
            <a:endParaRPr lang="en-US" sz="1900" dirty="0"/>
          </a:p>
        </p:txBody>
      </p:sp>
      <p:sp>
        <p:nvSpPr>
          <p:cNvPr id="7" name="Text 4"/>
          <p:cNvSpPr txBox="1"/>
          <p:nvPr/>
        </p:nvSpPr>
        <p:spPr>
          <a:xfrm>
            <a:off x="822960" y="3429000"/>
            <a:ext cx="2103120" cy="2011680"/>
          </a:xfrm>
          <a:prstGeom prst="rect">
            <a:avLst/>
          </a:prstGeom>
          <a:noFill/>
          <a:ln/>
        </p:spPr>
        <p:txBody>
          <a:bodyPr wrap="square" lIns="0" tIns="0" rIns="0" bIns="0" rtlCol="0" anchor="t"/>
          <a:lstStyle/>
          <a:p>
            <a:pPr indent="0" marL="0">
              <a:buNone/>
            </a:pPr>
            <a:r>
              <a:rPr lang="en-US" sz="1500" dirty="0">
                <a:solidFill>
                  <a:schemeClr val="tx1"/>
                </a:solidFill>
              </a:rPr>
              <a:t>Una habitación nunca se vende dos veces en fechas que se solapen, aunque dos recepcionistas reserven al mismo tiempo.</a:t>
            </a:r>
            <a:endParaRPr lang="en-US" sz="1500" dirty="0"/>
          </a:p>
        </p:txBody>
      </p:sp>
      <p:sp>
        <p:nvSpPr>
          <p:cNvPr id="8" name="Shape 5"/>
          <p:cNvSpPr/>
          <p:nvPr/>
        </p:nvSpPr>
        <p:spPr>
          <a:xfrm>
            <a:off x="3383280" y="1417320"/>
            <a:ext cx="2560320" cy="3657600"/>
          </a:xfrm>
          <a:prstGeom prst="roundRect">
            <a:avLst>
              <a:gd name="adj" fmla="val 4286"/>
            </a:avLst>
          </a:prstGeom>
          <a:solidFill>
            <a:schemeClr val="bg2"/>
          </a:solidFill>
          <a:ln w="12700">
            <a:solidFill>
              <a:schemeClr val="bg2"/>
            </a:solidFill>
            <a:prstDash val="solid"/>
          </a:ln>
        </p:spPr>
      </p:sp>
      <p:sp>
        <p:nvSpPr>
          <p:cNvPr id="9" name="Shape 6"/>
          <p:cNvSpPr/>
          <p:nvPr/>
        </p:nvSpPr>
        <p:spPr>
          <a:xfrm>
            <a:off x="3657600" y="1691640"/>
            <a:ext cx="685800" cy="685800"/>
          </a:xfrm>
          <a:prstGeom prst="ellipse">
            <a:avLst/>
          </a:prstGeom>
          <a:solidFill>
            <a:schemeClr val="tx2"/>
          </a:solidFill>
          <a:ln w="12700">
            <a:solidFill>
              <a:schemeClr val="tx2"/>
            </a:solidFill>
            <a:prstDash val="solid"/>
          </a:ln>
        </p:spPr>
      </p:sp>
      <p:pic>
        <p:nvPicPr>
          <p:cNvPr id="10" name="Image 1" descr="preencoded.png">    </p:cNvPr>
          <p:cNvPicPr>
            <a:picLocks noChangeAspect="1"/>
          </p:cNvPicPr>
          <p:nvPr/>
        </p:nvPicPr>
        <p:blipFill>
          <a:blip r:embed="rId2"/>
          <a:stretch>
            <a:fillRect/>
          </a:stretch>
        </p:blipFill>
        <p:spPr>
          <a:xfrm>
            <a:off x="3808476" y="1842516"/>
            <a:ext cx="384048" cy="384048"/>
          </a:xfrm>
          <a:prstGeom prst="rect">
            <a:avLst/>
          </a:prstGeom>
        </p:spPr>
      </p:pic>
      <p:sp>
        <p:nvSpPr>
          <p:cNvPr id="11" name="Text 7"/>
          <p:cNvSpPr txBox="1"/>
          <p:nvPr/>
        </p:nvSpPr>
        <p:spPr>
          <a:xfrm>
            <a:off x="3657600" y="2606040"/>
            <a:ext cx="2103120" cy="77724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Tarifas reales</a:t>
            </a:r>
            <a:endParaRPr lang="en-US" sz="1900" dirty="0"/>
          </a:p>
        </p:txBody>
      </p:sp>
      <p:sp>
        <p:nvSpPr>
          <p:cNvPr id="12" name="Text 8"/>
          <p:cNvSpPr txBox="1"/>
          <p:nvPr/>
        </p:nvSpPr>
        <p:spPr>
          <a:xfrm>
            <a:off x="3657600" y="3429000"/>
            <a:ext cx="2103120" cy="2011680"/>
          </a:xfrm>
          <a:prstGeom prst="rect">
            <a:avLst/>
          </a:prstGeom>
          <a:noFill/>
          <a:ln/>
        </p:spPr>
        <p:txBody>
          <a:bodyPr wrap="square" lIns="0" tIns="0" rIns="0" bIns="0" rtlCol="0" anchor="t"/>
          <a:lstStyle/>
          <a:p>
            <a:pPr indent="0" marL="0">
              <a:buNone/>
            </a:pPr>
            <a:r>
              <a:rPr lang="en-US" sz="1500" dirty="0">
                <a:solidFill>
                  <a:schemeClr val="tx1"/>
                </a:solidFill>
              </a:rPr>
              <a:t>Temporadas alta, media y baja; cada noche con su precio, persona adicional e IVA. El precio queda congelado al reservar.</a:t>
            </a:r>
            <a:endParaRPr lang="en-US" sz="1500" dirty="0"/>
          </a:p>
        </p:txBody>
      </p:sp>
      <p:sp>
        <p:nvSpPr>
          <p:cNvPr id="13" name="Shape 9"/>
          <p:cNvSpPr/>
          <p:nvPr/>
        </p:nvSpPr>
        <p:spPr>
          <a:xfrm>
            <a:off x="6217920" y="1417320"/>
            <a:ext cx="2560320" cy="3657600"/>
          </a:xfrm>
          <a:prstGeom prst="roundRect">
            <a:avLst>
              <a:gd name="adj" fmla="val 4286"/>
            </a:avLst>
          </a:prstGeom>
          <a:solidFill>
            <a:schemeClr val="bg2"/>
          </a:solidFill>
          <a:ln w="12700">
            <a:solidFill>
              <a:schemeClr val="bg2"/>
            </a:solidFill>
            <a:prstDash val="solid"/>
          </a:ln>
        </p:spPr>
      </p:sp>
      <p:sp>
        <p:nvSpPr>
          <p:cNvPr id="14" name="Shape 10"/>
          <p:cNvSpPr/>
          <p:nvPr/>
        </p:nvSpPr>
        <p:spPr>
          <a:xfrm>
            <a:off x="6492240" y="1691640"/>
            <a:ext cx="685800" cy="685800"/>
          </a:xfrm>
          <a:prstGeom prst="ellipse">
            <a:avLst/>
          </a:prstGeom>
          <a:solidFill>
            <a:schemeClr val="tx2"/>
          </a:solidFill>
          <a:ln w="12700">
            <a:solidFill>
              <a:schemeClr val="tx2"/>
            </a:solidFill>
            <a:prstDash val="solid"/>
          </a:ln>
        </p:spPr>
      </p:sp>
      <p:pic>
        <p:nvPicPr>
          <p:cNvPr id="15" name="Image 2" descr="preencoded.png">    </p:cNvPr>
          <p:cNvPicPr>
            <a:picLocks noChangeAspect="1"/>
          </p:cNvPicPr>
          <p:nvPr/>
        </p:nvPicPr>
        <p:blipFill>
          <a:blip r:embed="rId3"/>
          <a:stretch>
            <a:fillRect/>
          </a:stretch>
        </p:blipFill>
        <p:spPr>
          <a:xfrm>
            <a:off x="6643116" y="1842516"/>
            <a:ext cx="384048" cy="384048"/>
          </a:xfrm>
          <a:prstGeom prst="rect">
            <a:avLst/>
          </a:prstGeom>
        </p:spPr>
      </p:pic>
      <p:sp>
        <p:nvSpPr>
          <p:cNvPr id="16" name="Text 11"/>
          <p:cNvSpPr txBox="1"/>
          <p:nvPr/>
        </p:nvSpPr>
        <p:spPr>
          <a:xfrm>
            <a:off x="6492240" y="2606040"/>
            <a:ext cx="2103120" cy="77724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Estadía y folio</a:t>
            </a:r>
            <a:endParaRPr lang="en-US" sz="1900" dirty="0"/>
          </a:p>
        </p:txBody>
      </p:sp>
      <p:sp>
        <p:nvSpPr>
          <p:cNvPr id="17" name="Text 12"/>
          <p:cNvSpPr txBox="1"/>
          <p:nvPr/>
        </p:nvSpPr>
        <p:spPr>
          <a:xfrm>
            <a:off x="6492240" y="3429000"/>
            <a:ext cx="2103120" cy="2011680"/>
          </a:xfrm>
          <a:prstGeom prst="rect">
            <a:avLst/>
          </a:prstGeom>
          <a:noFill/>
          <a:ln/>
        </p:spPr>
        <p:txBody>
          <a:bodyPr wrap="square" lIns="0" tIns="0" rIns="0" bIns="0" rtlCol="0" anchor="t"/>
          <a:lstStyle/>
          <a:p>
            <a:pPr indent="0" marL="0">
              <a:buNone/>
            </a:pPr>
            <a:r>
              <a:rPr lang="en-US" sz="1500" dirty="0">
                <a:solidFill>
                  <a:schemeClr val="tx1"/>
                </a:solidFill>
              </a:rPr>
              <a:t>Check-in con registro hotelero, consumos cargados a la habitación y check-out que liquida todo en una sola cuenta.</a:t>
            </a:r>
            <a:endParaRPr lang="en-US" sz="1500" dirty="0"/>
          </a:p>
        </p:txBody>
      </p:sp>
      <p:sp>
        <p:nvSpPr>
          <p:cNvPr id="18" name="Shape 13"/>
          <p:cNvSpPr/>
          <p:nvPr/>
        </p:nvSpPr>
        <p:spPr>
          <a:xfrm>
            <a:off x="9052560" y="1417320"/>
            <a:ext cx="2560320" cy="3657600"/>
          </a:xfrm>
          <a:prstGeom prst="roundRect">
            <a:avLst>
              <a:gd name="adj" fmla="val 4286"/>
            </a:avLst>
          </a:prstGeom>
          <a:solidFill>
            <a:schemeClr val="bg2"/>
          </a:solidFill>
          <a:ln w="12700">
            <a:solidFill>
              <a:schemeClr val="bg2"/>
            </a:solidFill>
            <a:prstDash val="solid"/>
          </a:ln>
        </p:spPr>
      </p:sp>
      <p:sp>
        <p:nvSpPr>
          <p:cNvPr id="19" name="Shape 14"/>
          <p:cNvSpPr/>
          <p:nvPr/>
        </p:nvSpPr>
        <p:spPr>
          <a:xfrm>
            <a:off x="9326880" y="1691640"/>
            <a:ext cx="685800" cy="685800"/>
          </a:xfrm>
          <a:prstGeom prst="ellipse">
            <a:avLst/>
          </a:prstGeom>
          <a:solidFill>
            <a:schemeClr val="tx2"/>
          </a:solidFill>
          <a:ln w="12700">
            <a:solidFill>
              <a:schemeClr val="tx2"/>
            </a:solidFill>
            <a:prstDash val="solid"/>
          </a:ln>
        </p:spPr>
      </p:sp>
      <p:pic>
        <p:nvPicPr>
          <p:cNvPr id="20" name="Image 3" descr="preencoded.png">    </p:cNvPr>
          <p:cNvPicPr>
            <a:picLocks noChangeAspect="1"/>
          </p:cNvPicPr>
          <p:nvPr/>
        </p:nvPicPr>
        <p:blipFill>
          <a:blip r:embed="rId4"/>
          <a:stretch>
            <a:fillRect/>
          </a:stretch>
        </p:blipFill>
        <p:spPr>
          <a:xfrm>
            <a:off x="9477756" y="1842516"/>
            <a:ext cx="384048" cy="384048"/>
          </a:xfrm>
          <a:prstGeom prst="rect">
            <a:avLst/>
          </a:prstGeom>
        </p:spPr>
      </p:pic>
      <p:sp>
        <p:nvSpPr>
          <p:cNvPr id="21" name="Text 15"/>
          <p:cNvSpPr txBox="1"/>
          <p:nvPr/>
        </p:nvSpPr>
        <p:spPr>
          <a:xfrm>
            <a:off x="9326880" y="2606040"/>
            <a:ext cx="2103120" cy="77724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Operación de recepción</a:t>
            </a:r>
            <a:endParaRPr lang="en-US" sz="1900" dirty="0"/>
          </a:p>
        </p:txBody>
      </p:sp>
      <p:sp>
        <p:nvSpPr>
          <p:cNvPr id="22" name="Text 16"/>
          <p:cNvSpPr txBox="1"/>
          <p:nvPr/>
        </p:nvSpPr>
        <p:spPr>
          <a:xfrm>
            <a:off x="9326880" y="3429000"/>
            <a:ext cx="2103120" cy="2011680"/>
          </a:xfrm>
          <a:prstGeom prst="rect">
            <a:avLst/>
          </a:prstGeom>
          <a:noFill/>
          <a:ln/>
        </p:spPr>
        <p:txBody>
          <a:bodyPr wrap="square" lIns="0" tIns="0" rIns="0" bIns="0" rtlCol="0" anchor="t"/>
          <a:lstStyle/>
          <a:p>
            <a:pPr indent="0" marL="0">
              <a:buNone/>
            </a:pPr>
            <a:r>
              <a:rPr lang="en-US" sz="1500" dirty="0">
                <a:solidFill>
                  <a:schemeClr val="tx1"/>
                </a:solidFill>
              </a:rPr>
              <a:t>Panel "Hoy", calendario de ocupación, limpieza, no-shows automáticos, usuarios con roles y auditoría completa.</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El día del recepcionista en una pantalla</a:t>
            </a:r>
            <a:endParaRPr lang="en-US" sz="3200" dirty="0"/>
          </a:p>
        </p:txBody>
      </p:sp>
      <p:pic>
        <p:nvPicPr>
          <p:cNvPr id="3" name="Image 0" descr="/tmp/claude-0/shots/hoy.png">    </p:cNvPr>
          <p:cNvPicPr>
            <a:picLocks noChangeAspect="1"/>
          </p:cNvPicPr>
          <p:nvPr/>
        </p:nvPicPr>
        <p:blipFill>
          <a:blip r:embed="rId1"/>
          <a:stretch>
            <a:fillRect/>
          </a:stretch>
        </p:blipFill>
        <p:spPr>
          <a:xfrm>
            <a:off x="548640" y="1280160"/>
            <a:ext cx="7498080" cy="4686300"/>
          </a:xfrm>
          <a:prstGeom prst="rect">
            <a:avLst/>
          </a:prstGeom>
          <a:effectLst>
            <a:outerShdw sx="100000" sy="100000" kx="0" ky="0" algn="bl" rotWithShape="0" blurRad="101600" dist="25400" dir="5400000">
              <a:srgbClr val="0F1B2D">
                <a:alpha val="12000"/>
              </a:srgbClr>
            </a:outerShdw>
          </a:effectLst>
        </p:spPr>
      </p:pic>
      <p:sp>
        <p:nvSpPr>
          <p:cNvPr id="4" name="Shape 1"/>
          <p:cNvSpPr/>
          <p:nvPr/>
        </p:nvSpPr>
        <p:spPr>
          <a:xfrm>
            <a:off x="548640" y="1280160"/>
            <a:ext cx="7498080" cy="4686300"/>
          </a:xfrm>
          <a:prstGeom prst="rect">
            <a:avLst/>
          </a:prstGeom>
          <a:ln w="9525">
            <a:solidFill>
              <a:srgbClr val="D9DEE7"/>
            </a:solidFill>
            <a:prstDash val="solid"/>
          </a:ln>
        </p:spPr>
      </p:sp>
      <p:sp>
        <p:nvSpPr>
          <p:cNvPr id="5" name="Text 2"/>
          <p:cNvSpPr txBox="1"/>
          <p:nvPr/>
        </p:nvSpPr>
        <p:spPr>
          <a:xfrm>
            <a:off x="8412480" y="1325880"/>
            <a:ext cx="32004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Ocupación e ingresos</a:t>
            </a:r>
            <a:endParaRPr lang="en-US" sz="1800" dirty="0"/>
          </a:p>
        </p:txBody>
      </p:sp>
      <p:sp>
        <p:nvSpPr>
          <p:cNvPr id="6" name="Text 3"/>
          <p:cNvSpPr txBox="1"/>
          <p:nvPr/>
        </p:nvSpPr>
        <p:spPr>
          <a:xfrm>
            <a:off x="8412480" y="1737360"/>
            <a:ext cx="3200400" cy="1005840"/>
          </a:xfrm>
          <a:prstGeom prst="rect">
            <a:avLst/>
          </a:prstGeom>
          <a:noFill/>
          <a:ln/>
        </p:spPr>
        <p:txBody>
          <a:bodyPr wrap="square" lIns="0" tIns="0" rIns="0" bIns="0" rtlCol="0" anchor="t"/>
          <a:lstStyle/>
          <a:p>
            <a:pPr indent="0" marL="0">
              <a:buNone/>
            </a:pPr>
            <a:r>
              <a:rPr lang="en-US" sz="1400" dirty="0">
                <a:solidFill>
                  <a:schemeClr val="tx1"/>
                </a:solidFill>
              </a:rPr>
              <a:t>Ocupación de esta noche e ingresos del mes desglosados en alojamiento, consumos y penalidades.</a:t>
            </a:r>
            <a:endParaRPr lang="en-US" sz="1400" dirty="0"/>
          </a:p>
        </p:txBody>
      </p:sp>
      <p:sp>
        <p:nvSpPr>
          <p:cNvPr id="7" name="Text 4"/>
          <p:cNvSpPr txBox="1"/>
          <p:nvPr/>
        </p:nvSpPr>
        <p:spPr>
          <a:xfrm>
            <a:off x="8412480" y="2926080"/>
            <a:ext cx="32004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Llegadas y salidas</a:t>
            </a:r>
            <a:endParaRPr lang="en-US" sz="1800" dirty="0"/>
          </a:p>
        </p:txBody>
      </p:sp>
      <p:sp>
        <p:nvSpPr>
          <p:cNvPr id="8" name="Text 5"/>
          <p:cNvSpPr txBox="1"/>
          <p:nvPr/>
        </p:nvSpPr>
        <p:spPr>
          <a:xfrm>
            <a:off x="8412480" y="3337560"/>
            <a:ext cx="3200400" cy="1005840"/>
          </a:xfrm>
          <a:prstGeom prst="rect">
            <a:avLst/>
          </a:prstGeom>
          <a:noFill/>
          <a:ln/>
        </p:spPr>
        <p:txBody>
          <a:bodyPr wrap="square" lIns="0" tIns="0" rIns="0" bIns="0" rtlCol="0" anchor="t"/>
          <a:lstStyle/>
          <a:p>
            <a:pPr indent="0" marL="0">
              <a:buNone/>
            </a:pPr>
            <a:r>
              <a:rPr lang="en-US" sz="1400" dirty="0">
                <a:solidFill>
                  <a:schemeClr val="tx1"/>
                </a:solidFill>
              </a:rPr>
              <a:t>Check-in y check-out con un clic desde el panel, con los datos del registro hotelero.</a:t>
            </a:r>
            <a:endParaRPr lang="en-US" sz="1400" dirty="0"/>
          </a:p>
        </p:txBody>
      </p:sp>
      <p:sp>
        <p:nvSpPr>
          <p:cNvPr id="9" name="Text 6"/>
          <p:cNvSpPr txBox="1"/>
          <p:nvPr/>
        </p:nvSpPr>
        <p:spPr>
          <a:xfrm>
            <a:off x="8412480" y="4526280"/>
            <a:ext cx="32004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Próximas 14 noches</a:t>
            </a:r>
            <a:endParaRPr lang="en-US" sz="1800" dirty="0"/>
          </a:p>
        </p:txBody>
      </p:sp>
      <p:sp>
        <p:nvSpPr>
          <p:cNvPr id="10" name="Text 7"/>
          <p:cNvSpPr txBox="1"/>
          <p:nvPr/>
        </p:nvSpPr>
        <p:spPr>
          <a:xfrm>
            <a:off x="8412480" y="4937760"/>
            <a:ext cx="3200400" cy="1005840"/>
          </a:xfrm>
          <a:prstGeom prst="rect">
            <a:avLst/>
          </a:prstGeom>
          <a:noFill/>
          <a:ln/>
        </p:spPr>
        <p:txBody>
          <a:bodyPr wrap="square" lIns="0" tIns="0" rIns="0" bIns="0" rtlCol="0" anchor="t"/>
          <a:lstStyle/>
          <a:p>
            <a:pPr indent="0" marL="0">
              <a:buNone/>
            </a:pPr>
            <a:r>
              <a:rPr lang="en-US" sz="1400" dirty="0">
                <a:solidFill>
                  <a:schemeClr val="tx1"/>
                </a:solidFill>
              </a:rPr>
              <a:t>Gráfico de ocupación para anticipar la demanda.</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Calendario y gestión de reservas</a:t>
            </a:r>
            <a:endParaRPr lang="en-US" sz="3200" dirty="0"/>
          </a:p>
        </p:txBody>
      </p:sp>
      <p:pic>
        <p:nvPicPr>
          <p:cNvPr id="3" name="Image 0" descr="/tmp/claude-0/shots/calendario.png">    </p:cNvPr>
          <p:cNvPicPr>
            <a:picLocks noChangeAspect="1"/>
          </p:cNvPicPr>
          <p:nvPr/>
        </p:nvPicPr>
        <p:blipFill>
          <a:blip r:embed="rId1"/>
          <a:stretch>
            <a:fillRect/>
          </a:stretch>
        </p:blipFill>
        <p:spPr>
          <a:xfrm>
            <a:off x="548640" y="1280160"/>
            <a:ext cx="5394960" cy="3371850"/>
          </a:xfrm>
          <a:prstGeom prst="rect">
            <a:avLst/>
          </a:prstGeom>
          <a:effectLst>
            <a:outerShdw sx="100000" sy="100000" kx="0" ky="0" algn="bl" rotWithShape="0" blurRad="101600" dist="25400" dir="5400000">
              <a:srgbClr val="0F1B2D">
                <a:alpha val="12000"/>
              </a:srgbClr>
            </a:outerShdw>
          </a:effectLst>
        </p:spPr>
      </p:pic>
      <p:sp>
        <p:nvSpPr>
          <p:cNvPr id="4" name="Shape 1"/>
          <p:cNvSpPr/>
          <p:nvPr/>
        </p:nvSpPr>
        <p:spPr>
          <a:xfrm>
            <a:off x="548640" y="1280160"/>
            <a:ext cx="5394960" cy="3371850"/>
          </a:xfrm>
          <a:prstGeom prst="rect">
            <a:avLst/>
          </a:prstGeom>
          <a:ln w="9525">
            <a:solidFill>
              <a:srgbClr val="D9DEE7"/>
            </a:solidFill>
            <a:prstDash val="solid"/>
          </a:ln>
        </p:spPr>
      </p:sp>
      <p:pic>
        <p:nvPicPr>
          <p:cNvPr id="5" name="Image 1" descr="/tmp/claude-0/shots/reservas.png">    </p:cNvPr>
          <p:cNvPicPr>
            <a:picLocks noChangeAspect="1"/>
          </p:cNvPicPr>
          <p:nvPr/>
        </p:nvPicPr>
        <p:blipFill>
          <a:blip r:embed="rId2"/>
          <a:stretch>
            <a:fillRect/>
          </a:stretch>
        </p:blipFill>
        <p:spPr>
          <a:xfrm>
            <a:off x="6217920" y="1280160"/>
            <a:ext cx="5394960" cy="3371850"/>
          </a:xfrm>
          <a:prstGeom prst="rect">
            <a:avLst/>
          </a:prstGeom>
          <a:effectLst>
            <a:outerShdw sx="100000" sy="100000" kx="0" ky="0" algn="bl" rotWithShape="0" blurRad="101600" dist="25400" dir="5400000">
              <a:srgbClr val="0F1B2D">
                <a:alpha val="12000"/>
              </a:srgbClr>
            </a:outerShdw>
          </a:effectLst>
        </p:spPr>
      </p:pic>
      <p:sp>
        <p:nvSpPr>
          <p:cNvPr id="6" name="Shape 2"/>
          <p:cNvSpPr/>
          <p:nvPr/>
        </p:nvSpPr>
        <p:spPr>
          <a:xfrm>
            <a:off x="6217920" y="1280160"/>
            <a:ext cx="5394960" cy="3371850"/>
          </a:xfrm>
          <a:prstGeom prst="rect">
            <a:avLst/>
          </a:prstGeom>
          <a:ln w="9525">
            <a:solidFill>
              <a:srgbClr val="D9DEE7"/>
            </a:solidFill>
            <a:prstDash val="solid"/>
          </a:ln>
        </p:spPr>
      </p:sp>
      <p:sp>
        <p:nvSpPr>
          <p:cNvPr id="7" name="Text 3"/>
          <p:cNvSpPr txBox="1"/>
          <p:nvPr/>
        </p:nvSpPr>
        <p:spPr>
          <a:xfrm>
            <a:off x="548640" y="4800600"/>
            <a:ext cx="5394960" cy="685800"/>
          </a:xfrm>
          <a:prstGeom prst="rect">
            <a:avLst/>
          </a:prstGeom>
          <a:noFill/>
          <a:ln/>
        </p:spPr>
        <p:txBody>
          <a:bodyPr wrap="square" lIns="0" tIns="0" rIns="0" bIns="0" rtlCol="0" anchor="t"/>
          <a:lstStyle/>
          <a:p>
            <a:pPr indent="0" marL="0">
              <a:buNone/>
            </a:pPr>
            <a:r>
              <a:rPr lang="en-US" sz="1400" dirty="0">
                <a:solidFill>
                  <a:schemeClr val="tx1"/>
                </a:solidFill>
              </a:rPr>
              <a:t>Calendario: habitaciones × días. El día de salida queda libre para el siguiente huésped.</a:t>
            </a:r>
            <a:endParaRPr lang="en-US" sz="1400" dirty="0"/>
          </a:p>
        </p:txBody>
      </p:sp>
      <p:sp>
        <p:nvSpPr>
          <p:cNvPr id="8" name="Text 4"/>
          <p:cNvSpPr txBox="1"/>
          <p:nvPr/>
        </p:nvSpPr>
        <p:spPr>
          <a:xfrm>
            <a:off x="6217920" y="4800600"/>
            <a:ext cx="5394960" cy="685800"/>
          </a:xfrm>
          <a:prstGeom prst="rect">
            <a:avLst/>
          </a:prstGeom>
          <a:noFill/>
          <a:ln/>
        </p:spPr>
        <p:txBody>
          <a:bodyPr wrap="square" lIns="0" tIns="0" rIns="0" bIns="0" rtlCol="0" anchor="t"/>
          <a:lstStyle/>
          <a:p>
            <a:pPr indent="0" marL="0">
              <a:buNone/>
            </a:pPr>
            <a:r>
              <a:rPr lang="en-US" sz="1400" dirty="0">
                <a:solidFill>
                  <a:schemeClr val="tx1"/>
                </a:solidFill>
              </a:rPr>
              <a:t>Reservas: filtro por estado, búsqueda, penalidad o cancelación gratuita calculada, check-in y check-out.</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2743200"/>
            <a:ext cx="10881360" cy="1097280"/>
          </a:xfrm>
          <a:prstGeom prst="rect">
            <a:avLst/>
          </a:prstGeom>
          <a:noFill/>
          <a:ln/>
        </p:spPr>
        <p:txBody>
          <a:bodyPr wrap="square" lIns="0" tIns="0" rIns="0" bIns="0" rtlCol="0"/>
          <a:lstStyle/>
          <a:p>
            <a:pPr algn="l" indent="0" marL="0">
              <a:buNone/>
            </a:pPr>
            <a:r>
              <a:rPr lang="en-US" sz="4000" b="1" dirty="0">
                <a:solidFill>
                  <a:schemeClr val="bg1"/>
                </a:solidFill>
                <a:latin typeface="Cambria" pitchFamily="34" charset="0"/>
                <a:ea typeface="Cambria" pitchFamily="34" charset="-122"/>
                <a:cs typeface="Cambria" pitchFamily="34" charset="-120"/>
              </a:rPr>
              <a:t>Arquitectura y decisiones técnicas</a:t>
            </a:r>
            <a:endParaRPr lang="en-US" sz="4000" dirty="0"/>
          </a:p>
        </p:txBody>
      </p:sp>
      <p:sp>
        <p:nvSpPr>
          <p:cNvPr id="3" name="Text 0"/>
          <p:cNvSpPr/>
          <p:nvPr>
            <p:ph idx="101" type="body" hasCustomPrompt="1"/>
          </p:nvPr>
        </p:nvSpPr>
        <p:spPr>
          <a:xfrm>
            <a:off x="640080" y="3886200"/>
            <a:ext cx="10881360" cy="731520"/>
          </a:xfrm>
          <a:prstGeom prst="rect">
            <a:avLst/>
          </a:prstGeom>
          <a:noFill/>
          <a:ln/>
        </p:spPr>
        <p:txBody>
          <a:bodyPr wrap="square" lIns="0" tIns="0" rIns="0" bIns="0" rtlCol="0"/>
          <a:lstStyle/>
          <a:p>
            <a:pPr indent="0" marL="0">
              <a:buNone/>
            </a:pPr>
            <a:r>
              <a:rPr lang="en-US" sz="1800" dirty="0">
                <a:solidFill>
                  <a:schemeClr val="accent1"/>
                </a:solidFill>
              </a:rPr>
              <a:t>Qué regla nunca se puede romper, y qué la garantiza aunque dos personas actúen a la vez</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Vista general del sistema</a:t>
            </a:r>
            <a:endParaRPr lang="en-US" sz="3200" dirty="0"/>
          </a:p>
        </p:txBody>
      </p:sp>
      <p:sp>
        <p:nvSpPr>
          <p:cNvPr id="3" name="Shape 1"/>
          <p:cNvSpPr/>
          <p:nvPr/>
        </p:nvSpPr>
        <p:spPr>
          <a:xfrm>
            <a:off x="548640" y="2377440"/>
            <a:ext cx="2377440" cy="1645920"/>
          </a:xfrm>
          <a:prstGeom prst="roundRect">
            <a:avLst>
              <a:gd name="adj" fmla="val 5556"/>
            </a:avLst>
          </a:prstGeom>
          <a:solidFill>
            <a:schemeClr val="bg2"/>
          </a:solidFill>
          <a:ln w="12700">
            <a:solidFill>
              <a:schemeClr val="bg2"/>
            </a:solidFill>
            <a:prstDash val="solid"/>
          </a:ln>
        </p:spPr>
      </p:sp>
      <p:sp>
        <p:nvSpPr>
          <p:cNvPr id="4" name="Text 2"/>
          <p:cNvSpPr txBox="1"/>
          <p:nvPr/>
        </p:nvSpPr>
        <p:spPr>
          <a:xfrm>
            <a:off x="685800" y="2377440"/>
            <a:ext cx="2103120" cy="1645920"/>
          </a:xfrm>
          <a:prstGeom prst="rect">
            <a:avLst/>
          </a:prstGeom>
          <a:noFill/>
          <a:ln/>
        </p:spPr>
        <p:txBody>
          <a:bodyPr wrap="square" lIns="0" tIns="0" rIns="0" bIns="0" rtlCol="0" anchor="ctr"/>
          <a:lstStyle/>
          <a:p>
            <a:pPr algn="ctr" indent="0" marL="0">
              <a:buNone/>
            </a:pPr>
            <a:r>
              <a:rPr lang="en-US" sz="1600" b="1" dirty="0">
                <a:solidFill>
                  <a:schemeClr val="tx1"/>
                </a:solidFill>
              </a:rPr>
              <a:t>Navegador</a:t>
            </a:r>
            <a:endParaRPr lang="en-US" sz="1600" dirty="0"/>
          </a:p>
          <a:p>
            <a:pPr algn="ctr" indent="0" marL="0">
              <a:buNone/>
            </a:pPr>
            <a:r>
              <a:rPr lang="en-US" sz="1200" dirty="0">
                <a:solidFill>
                  <a:schemeClr val="tx1"/>
                </a:solidFill>
              </a:rPr>
              <a:t>SPA React 19 + Vite</a:t>
            </a:r>
            <a:endParaRPr lang="en-US" sz="1600" dirty="0"/>
          </a:p>
          <a:p>
            <a:pPr algn="ctr" indent="0" marL="0">
              <a:buNone/>
            </a:pPr>
            <a:r>
              <a:rPr lang="en-US" sz="1200" dirty="0">
                <a:solidFill>
                  <a:schemeClr val="tx1"/>
                </a:solidFill>
              </a:rPr>
              <a:t>panel, calendario, reservas, folio, tarifas, usuarios</a:t>
            </a:r>
            <a:endParaRPr lang="en-US" sz="1600" dirty="0"/>
          </a:p>
        </p:txBody>
      </p:sp>
      <p:sp>
        <p:nvSpPr>
          <p:cNvPr id="5" name="Shape 3"/>
          <p:cNvSpPr/>
          <p:nvPr/>
        </p:nvSpPr>
        <p:spPr>
          <a:xfrm>
            <a:off x="3566160" y="1325880"/>
            <a:ext cx="5120640" cy="4480560"/>
          </a:xfrm>
          <a:prstGeom prst="roundRect">
            <a:avLst>
              <a:gd name="adj" fmla="val 2449"/>
            </a:avLst>
          </a:prstGeom>
          <a:solidFill>
            <a:schemeClr val="bg1"/>
          </a:solidFill>
          <a:ln w="12700">
            <a:solidFill>
              <a:srgbClr val="D9DEE7"/>
            </a:solidFill>
            <a:prstDash val="dash"/>
          </a:ln>
        </p:spPr>
      </p:sp>
      <p:sp>
        <p:nvSpPr>
          <p:cNvPr id="6" name="Text 4"/>
          <p:cNvSpPr txBox="1"/>
          <p:nvPr/>
        </p:nvSpPr>
        <p:spPr>
          <a:xfrm>
            <a:off x="3749040" y="1417320"/>
            <a:ext cx="4754880" cy="320040"/>
          </a:xfrm>
          <a:prstGeom prst="rect">
            <a:avLst/>
          </a:prstGeom>
          <a:noFill/>
          <a:ln/>
        </p:spPr>
        <p:txBody>
          <a:bodyPr wrap="square" lIns="0" tIns="0" rIns="0" bIns="0" rtlCol="0" anchor="ctr"/>
          <a:lstStyle/>
          <a:p>
            <a:pPr indent="0" marL="0">
              <a:buNone/>
            </a:pPr>
            <a:r>
              <a:rPr lang="en-US" sz="1300" b="1" dirty="0">
                <a:solidFill>
                  <a:schemeClr val="tx2"/>
                </a:solidFill>
              </a:rPr>
              <a:t>Backend NestJS 11 · API REST + Swagger (/docs)</a:t>
            </a:r>
            <a:endParaRPr lang="en-US" sz="1300" dirty="0"/>
          </a:p>
        </p:txBody>
      </p:sp>
      <p:sp>
        <p:nvSpPr>
          <p:cNvPr id="7" name="Shape 5"/>
          <p:cNvSpPr/>
          <p:nvPr/>
        </p:nvSpPr>
        <p:spPr>
          <a:xfrm>
            <a:off x="3840480" y="1874520"/>
            <a:ext cx="4572000" cy="822960"/>
          </a:xfrm>
          <a:prstGeom prst="roundRect">
            <a:avLst>
              <a:gd name="adj" fmla="val 11111"/>
            </a:avLst>
          </a:prstGeom>
          <a:solidFill>
            <a:schemeClr val="tx2"/>
          </a:solidFill>
          <a:ln w="12700">
            <a:solidFill>
              <a:schemeClr val="tx2"/>
            </a:solidFill>
            <a:prstDash val="solid"/>
          </a:ln>
        </p:spPr>
      </p:sp>
      <p:sp>
        <p:nvSpPr>
          <p:cNvPr id="8" name="Text 6"/>
          <p:cNvSpPr txBox="1"/>
          <p:nvPr/>
        </p:nvSpPr>
        <p:spPr>
          <a:xfrm>
            <a:off x="3977640" y="1874520"/>
            <a:ext cx="4297680" cy="822960"/>
          </a:xfrm>
          <a:prstGeom prst="rect">
            <a:avLst/>
          </a:prstGeom>
          <a:noFill/>
          <a:ln/>
        </p:spPr>
        <p:txBody>
          <a:bodyPr wrap="square" lIns="0" tIns="0" rIns="0" bIns="0" rtlCol="0" anchor="ctr"/>
          <a:lstStyle/>
          <a:p>
            <a:pPr algn="ctr" indent="0" marL="0">
              <a:buNone/>
            </a:pPr>
            <a:r>
              <a:rPr lang="en-US" sz="1600" b="1" dirty="0">
                <a:solidFill>
                  <a:schemeClr val="bg1"/>
                </a:solidFill>
              </a:rPr>
              <a:t>Guardia global</a:t>
            </a:r>
            <a:endParaRPr lang="en-US" sz="1600" dirty="0"/>
          </a:p>
          <a:p>
            <a:pPr algn="ctr" indent="0" marL="0">
              <a:buNone/>
            </a:pPr>
            <a:r>
              <a:rPr lang="en-US" sz="1200" dirty="0">
                <a:solidFill>
                  <a:schemeClr val="bg1"/>
                </a:solidFill>
              </a:rPr>
              <a:t>sesión JWT + permisos por rol (solo el login es público)</a:t>
            </a:r>
            <a:endParaRPr lang="en-US" sz="1600" dirty="0"/>
          </a:p>
        </p:txBody>
      </p:sp>
      <p:sp>
        <p:nvSpPr>
          <p:cNvPr id="9" name="Shape 7"/>
          <p:cNvSpPr/>
          <p:nvPr/>
        </p:nvSpPr>
        <p:spPr>
          <a:xfrm>
            <a:off x="3840480" y="2880360"/>
            <a:ext cx="4572000" cy="822960"/>
          </a:xfrm>
          <a:prstGeom prst="roundRect">
            <a:avLst>
              <a:gd name="adj" fmla="val 11111"/>
            </a:avLst>
          </a:prstGeom>
          <a:solidFill>
            <a:schemeClr val="accent3"/>
          </a:solidFill>
          <a:ln w="12700">
            <a:solidFill>
              <a:schemeClr val="accent3"/>
            </a:solidFill>
            <a:prstDash val="solid"/>
          </a:ln>
        </p:spPr>
      </p:sp>
      <p:sp>
        <p:nvSpPr>
          <p:cNvPr id="10" name="Text 8"/>
          <p:cNvSpPr txBox="1"/>
          <p:nvPr/>
        </p:nvSpPr>
        <p:spPr>
          <a:xfrm>
            <a:off x="3977640" y="2880360"/>
            <a:ext cx="4297680" cy="822960"/>
          </a:xfrm>
          <a:prstGeom prst="rect">
            <a:avLst/>
          </a:prstGeom>
          <a:noFill/>
          <a:ln/>
        </p:spPr>
        <p:txBody>
          <a:bodyPr wrap="square" lIns="0" tIns="0" rIns="0" bIns="0" rtlCol="0" anchor="ctr"/>
          <a:lstStyle/>
          <a:p>
            <a:pPr algn="ctr" indent="0" marL="0">
              <a:buNone/>
            </a:pPr>
            <a:r>
              <a:rPr lang="en-US" sz="1600" b="1" dirty="0">
                <a:solidFill>
                  <a:schemeClr val="bg1"/>
                </a:solidFill>
              </a:rPr>
              <a:t>Módulos de negocio</a:t>
            </a:r>
            <a:endParaRPr lang="en-US" sz="1600" dirty="0"/>
          </a:p>
          <a:p>
            <a:pPr algn="ctr" indent="0" marL="0">
              <a:buNone/>
            </a:pPr>
            <a:r>
              <a:rPr lang="en-US" sz="1200" dirty="0">
                <a:solidFill>
                  <a:schemeClr val="bg1"/>
                </a:solidFill>
              </a:rPr>
              <a:t>reservas · folio · habitaciones · huéspedes · panel · usuarios</a:t>
            </a:r>
            <a:endParaRPr lang="en-US" sz="1600" dirty="0"/>
          </a:p>
        </p:txBody>
      </p:sp>
      <p:sp>
        <p:nvSpPr>
          <p:cNvPr id="11" name="Shape 9"/>
          <p:cNvSpPr/>
          <p:nvPr/>
        </p:nvSpPr>
        <p:spPr>
          <a:xfrm>
            <a:off x="3840480" y="3886200"/>
            <a:ext cx="2194560" cy="1645920"/>
          </a:xfrm>
          <a:prstGeom prst="roundRect">
            <a:avLst>
              <a:gd name="adj" fmla="val 5556"/>
            </a:avLst>
          </a:prstGeom>
          <a:solidFill>
            <a:schemeClr val="accent1"/>
          </a:solidFill>
          <a:ln w="12700">
            <a:solidFill>
              <a:schemeClr val="accent1"/>
            </a:solidFill>
            <a:prstDash val="solid"/>
          </a:ln>
        </p:spPr>
      </p:sp>
      <p:sp>
        <p:nvSpPr>
          <p:cNvPr id="12" name="Text 10"/>
          <p:cNvSpPr txBox="1"/>
          <p:nvPr/>
        </p:nvSpPr>
        <p:spPr>
          <a:xfrm>
            <a:off x="3977640" y="3886200"/>
            <a:ext cx="1920240" cy="1645920"/>
          </a:xfrm>
          <a:prstGeom prst="rect">
            <a:avLst/>
          </a:prstGeom>
          <a:noFill/>
          <a:ln/>
        </p:spPr>
        <p:txBody>
          <a:bodyPr wrap="square" lIns="0" tIns="0" rIns="0" bIns="0" rtlCol="0" anchor="ctr"/>
          <a:lstStyle/>
          <a:p>
            <a:pPr algn="ctr" indent="0" marL="0">
              <a:buNone/>
            </a:pPr>
            <a:r>
              <a:rPr lang="en-US" sz="1600" b="1" dirty="0">
                <a:solidFill>
                  <a:schemeClr val="tx2"/>
                </a:solidFill>
              </a:rPr>
              <a:t>Dominio puro</a:t>
            </a:r>
            <a:endParaRPr lang="en-US" sz="1600" dirty="0"/>
          </a:p>
          <a:p>
            <a:pPr algn="ctr" indent="0" marL="0">
              <a:buNone/>
            </a:pPr>
            <a:r>
              <a:rPr lang="en-US" sz="1200" dirty="0">
                <a:solidFill>
                  <a:schemeClr val="tx2"/>
                </a:solidFill>
              </a:rPr>
              <a:t>motor de tarifas y calendario de Colombia (sin Nest ni Prisma)</a:t>
            </a:r>
            <a:endParaRPr lang="en-US" sz="1600" dirty="0"/>
          </a:p>
        </p:txBody>
      </p:sp>
      <p:sp>
        <p:nvSpPr>
          <p:cNvPr id="13" name="Shape 11"/>
          <p:cNvSpPr/>
          <p:nvPr/>
        </p:nvSpPr>
        <p:spPr>
          <a:xfrm>
            <a:off x="6217920" y="3886200"/>
            <a:ext cx="2194560" cy="1645920"/>
          </a:xfrm>
          <a:prstGeom prst="roundRect">
            <a:avLst>
              <a:gd name="adj" fmla="val 5556"/>
            </a:avLst>
          </a:prstGeom>
          <a:solidFill>
            <a:schemeClr val="bg2"/>
          </a:solidFill>
          <a:ln w="12700">
            <a:solidFill>
              <a:schemeClr val="bg2"/>
            </a:solidFill>
            <a:prstDash val="solid"/>
          </a:ln>
        </p:spPr>
      </p:sp>
      <p:sp>
        <p:nvSpPr>
          <p:cNvPr id="14" name="Text 12"/>
          <p:cNvSpPr txBox="1"/>
          <p:nvPr/>
        </p:nvSpPr>
        <p:spPr>
          <a:xfrm>
            <a:off x="6355080" y="3886200"/>
            <a:ext cx="1920240" cy="1645920"/>
          </a:xfrm>
          <a:prstGeom prst="rect">
            <a:avLst/>
          </a:prstGeom>
          <a:noFill/>
          <a:ln/>
        </p:spPr>
        <p:txBody>
          <a:bodyPr wrap="square" lIns="0" tIns="0" rIns="0" bIns="0" rtlCol="0" anchor="ctr"/>
          <a:lstStyle/>
          <a:p>
            <a:pPr algn="ctr" indent="0" marL="0">
              <a:buNone/>
            </a:pPr>
            <a:r>
              <a:rPr lang="en-US" sz="1600" b="1" dirty="0">
                <a:solidFill>
                  <a:schemeClr val="tx1"/>
                </a:solidFill>
              </a:rPr>
              <a:t>Tarea programada</a:t>
            </a:r>
            <a:endParaRPr lang="en-US" sz="1600" dirty="0"/>
          </a:p>
          <a:p>
            <a:pPr algn="ctr" indent="0" marL="0">
              <a:buNone/>
            </a:pPr>
            <a:r>
              <a:rPr lang="en-US" sz="1200" dirty="0">
                <a:solidFill>
                  <a:schemeClr val="tx1"/>
                </a:solidFill>
              </a:rPr>
              <a:t>no-shows cada 10 minutos</a:t>
            </a:r>
            <a:endParaRPr lang="en-US" sz="1600" dirty="0"/>
          </a:p>
        </p:txBody>
      </p:sp>
      <p:sp>
        <p:nvSpPr>
          <p:cNvPr id="15" name="Shape 13"/>
          <p:cNvSpPr/>
          <p:nvPr/>
        </p:nvSpPr>
        <p:spPr>
          <a:xfrm>
            <a:off x="9326880" y="2377440"/>
            <a:ext cx="2286000" cy="1645920"/>
          </a:xfrm>
          <a:prstGeom prst="roundRect">
            <a:avLst>
              <a:gd name="adj" fmla="val 5556"/>
            </a:avLst>
          </a:prstGeom>
          <a:solidFill>
            <a:schemeClr val="tx2"/>
          </a:solidFill>
          <a:ln w="12700">
            <a:solidFill>
              <a:schemeClr val="tx2"/>
            </a:solidFill>
            <a:prstDash val="solid"/>
          </a:ln>
        </p:spPr>
      </p:sp>
      <p:sp>
        <p:nvSpPr>
          <p:cNvPr id="16" name="Text 14"/>
          <p:cNvSpPr txBox="1"/>
          <p:nvPr/>
        </p:nvSpPr>
        <p:spPr>
          <a:xfrm>
            <a:off x="9464040" y="2377440"/>
            <a:ext cx="2011680" cy="1645920"/>
          </a:xfrm>
          <a:prstGeom prst="rect">
            <a:avLst/>
          </a:prstGeom>
          <a:noFill/>
          <a:ln/>
        </p:spPr>
        <p:txBody>
          <a:bodyPr wrap="square" lIns="0" tIns="0" rIns="0" bIns="0" rtlCol="0" anchor="ctr"/>
          <a:lstStyle/>
          <a:p>
            <a:pPr algn="ctr" indent="0" marL="0">
              <a:buNone/>
            </a:pPr>
            <a:r>
              <a:rPr lang="en-US" sz="1600" b="1" dirty="0">
                <a:solidFill>
                  <a:schemeClr val="bg1"/>
                </a:solidFill>
              </a:rPr>
              <a:t>PostgreSQL 16</a:t>
            </a:r>
            <a:endParaRPr lang="en-US" sz="1600" dirty="0"/>
          </a:p>
          <a:p>
            <a:pPr algn="ctr" indent="0" marL="0">
              <a:buNone/>
            </a:pPr>
            <a:r>
              <a:rPr lang="en-US" sz="1200" dirty="0">
                <a:solidFill>
                  <a:schemeClr val="bg1"/>
                </a:solidFill>
              </a:rPr>
              <a:t>restricción EXCLUDE reserva_sin_sobreventa</a:t>
            </a:r>
            <a:endParaRPr lang="en-US" sz="1600" dirty="0"/>
          </a:p>
        </p:txBody>
      </p:sp>
      <p:sp>
        <p:nvSpPr>
          <p:cNvPr id="17" name="Shape 15"/>
          <p:cNvSpPr/>
          <p:nvPr/>
        </p:nvSpPr>
        <p:spPr>
          <a:xfrm>
            <a:off x="2971800" y="3200400"/>
            <a:ext cx="548640" cy="0"/>
          </a:xfrm>
          <a:prstGeom prst="line">
            <a:avLst/>
          </a:prstGeom>
          <a:noFill/>
          <a:ln w="19050">
            <a:solidFill>
              <a:schemeClr val="accent6"/>
            </a:solidFill>
            <a:prstDash val="solid"/>
            <a:tailEnd type="triangle"/>
          </a:ln>
        </p:spPr>
      </p:sp>
      <p:sp>
        <p:nvSpPr>
          <p:cNvPr id="18" name="Text 16"/>
          <p:cNvSpPr txBox="1"/>
          <p:nvPr/>
        </p:nvSpPr>
        <p:spPr>
          <a:xfrm>
            <a:off x="2880360" y="2834640"/>
            <a:ext cx="731520" cy="274320"/>
          </a:xfrm>
          <a:prstGeom prst="rect">
            <a:avLst/>
          </a:prstGeom>
          <a:noFill/>
          <a:ln/>
        </p:spPr>
        <p:txBody>
          <a:bodyPr wrap="square" lIns="0" tIns="0" rIns="0" bIns="0" rtlCol="0" anchor="ctr"/>
          <a:lstStyle/>
          <a:p>
            <a:pPr algn="ctr" indent="0" marL="0">
              <a:buNone/>
            </a:pPr>
            <a:r>
              <a:rPr lang="en-US" sz="1100" dirty="0">
                <a:solidFill>
                  <a:schemeClr val="accent6"/>
                </a:solidFill>
              </a:rPr>
              <a:t>REST + JSON</a:t>
            </a:r>
            <a:endParaRPr lang="en-US" sz="1100" dirty="0"/>
          </a:p>
        </p:txBody>
      </p:sp>
      <p:sp>
        <p:nvSpPr>
          <p:cNvPr id="19" name="Shape 17"/>
          <p:cNvSpPr/>
          <p:nvPr/>
        </p:nvSpPr>
        <p:spPr>
          <a:xfrm>
            <a:off x="8732520" y="3200400"/>
            <a:ext cx="548640" cy="0"/>
          </a:xfrm>
          <a:prstGeom prst="line">
            <a:avLst/>
          </a:prstGeom>
          <a:noFill/>
          <a:ln w="19050">
            <a:solidFill>
              <a:schemeClr val="accent6"/>
            </a:solidFill>
            <a:prstDash val="solid"/>
            <a:tailEnd type="triangle"/>
          </a:ln>
        </p:spPr>
      </p:sp>
      <p:sp>
        <p:nvSpPr>
          <p:cNvPr id="20" name="Text 18"/>
          <p:cNvSpPr txBox="1"/>
          <p:nvPr/>
        </p:nvSpPr>
        <p:spPr>
          <a:xfrm>
            <a:off x="8641080" y="2834640"/>
            <a:ext cx="731520" cy="274320"/>
          </a:xfrm>
          <a:prstGeom prst="rect">
            <a:avLst/>
          </a:prstGeom>
          <a:noFill/>
          <a:ln/>
        </p:spPr>
        <p:txBody>
          <a:bodyPr wrap="square" lIns="0" tIns="0" rIns="0" bIns="0" rtlCol="0" anchor="ctr"/>
          <a:lstStyle/>
          <a:p>
            <a:pPr algn="ctr" indent="0" marL="0">
              <a:buNone/>
            </a:pPr>
            <a:r>
              <a:rPr lang="en-US" sz="1100" dirty="0">
                <a:solidFill>
                  <a:schemeClr val="accent6"/>
                </a:solidFill>
              </a:rPr>
              <a:t>Prisma</a:t>
            </a:r>
            <a:endParaRPr lang="en-US" sz="1100" dirty="0"/>
          </a:p>
        </p:txBody>
      </p:sp>
      <p:sp>
        <p:nvSpPr>
          <p:cNvPr id="21" name="Text 19"/>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300" i="1" dirty="0">
                <a:solidFill>
                  <a:schemeClr val="accent6"/>
                </a:solidFill>
              </a:rPr>
              <a:t>El frontend no tiene reglas propias: muestra lo que calcula el backend. La protección real está en la API y en la base de datos.</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Stack tecnológico y módulos del backend</a:t>
            </a:r>
            <a:endParaRPr lang="en-US" sz="3200" dirty="0"/>
          </a:p>
        </p:txBody>
      </p:sp>
      <p:sp>
        <p:nvSpPr>
          <p:cNvPr id="3" name="Shape 1"/>
          <p:cNvSpPr/>
          <p:nvPr/>
        </p:nvSpPr>
        <p:spPr>
          <a:xfrm>
            <a:off x="548640" y="1325880"/>
            <a:ext cx="548640" cy="548640"/>
          </a:xfrm>
          <a:prstGeom prst="ellipse">
            <a:avLst/>
          </a:prstGeom>
          <a:solidFill>
            <a:schemeClr val="tx2"/>
          </a:solidFill>
          <a:ln w="12700">
            <a:solidFill>
              <a:schemeClr val="tx2"/>
            </a:solidFill>
            <a:prstDash val="solid"/>
          </a:ln>
        </p:spPr>
      </p:sp>
      <p:pic>
        <p:nvPicPr>
          <p:cNvPr id="4" name="Image 0" descr="preencoded.png">    </p:cNvPr>
          <p:cNvPicPr>
            <a:picLocks noChangeAspect="1"/>
          </p:cNvPicPr>
          <p:nvPr/>
        </p:nvPicPr>
        <p:blipFill>
          <a:blip r:embed="rId1"/>
          <a:stretch>
            <a:fillRect/>
          </a:stretch>
        </p:blipFill>
        <p:spPr>
          <a:xfrm>
            <a:off x="669341" y="1446581"/>
            <a:ext cx="307238" cy="307238"/>
          </a:xfrm>
          <a:prstGeom prst="rect">
            <a:avLst/>
          </a:prstGeom>
        </p:spPr>
      </p:pic>
      <p:sp>
        <p:nvSpPr>
          <p:cNvPr id="5" name="Text 2"/>
          <p:cNvSpPr txBox="1"/>
          <p:nvPr/>
        </p:nvSpPr>
        <p:spPr>
          <a:xfrm>
            <a:off x="1234440" y="1280160"/>
            <a:ext cx="3291840" cy="685800"/>
          </a:xfrm>
          <a:prstGeom prst="rect">
            <a:avLst/>
          </a:prstGeom>
          <a:noFill/>
          <a:ln/>
        </p:spPr>
        <p:txBody>
          <a:bodyPr wrap="square" lIns="0" tIns="0" rIns="0" bIns="0" rtlCol="0" anchor="ctr"/>
          <a:lstStyle/>
          <a:p>
            <a:pPr indent="0" marL="0">
              <a:buNone/>
            </a:pPr>
            <a:r>
              <a:rPr lang="en-US" sz="1500" b="1" dirty="0">
                <a:solidFill>
                  <a:schemeClr val="tx2"/>
                </a:solidFill>
              </a:rPr>
              <a:t>Backend</a:t>
            </a:r>
            <a:endParaRPr lang="en-US" sz="1500" dirty="0"/>
          </a:p>
          <a:p>
            <a:pPr indent="0" marL="0">
              <a:buNone/>
            </a:pPr>
            <a:r>
              <a:rPr lang="en-US" sz="1300" dirty="0">
                <a:solidFill>
                  <a:schemeClr val="tx1"/>
                </a:solidFill>
              </a:rPr>
              <a:t>NestJS 11 · TypeScript · Prisma</a:t>
            </a:r>
            <a:endParaRPr lang="en-US" sz="1500" dirty="0"/>
          </a:p>
        </p:txBody>
      </p:sp>
      <p:sp>
        <p:nvSpPr>
          <p:cNvPr id="6" name="Shape 3"/>
          <p:cNvSpPr/>
          <p:nvPr/>
        </p:nvSpPr>
        <p:spPr>
          <a:xfrm>
            <a:off x="548640" y="2258568"/>
            <a:ext cx="548640" cy="548640"/>
          </a:xfrm>
          <a:prstGeom prst="ellipse">
            <a:avLst/>
          </a:prstGeom>
          <a:solidFill>
            <a:schemeClr val="tx2"/>
          </a:solidFill>
          <a:ln w="12700">
            <a:solidFill>
              <a:schemeClr val="tx2"/>
            </a:solidFill>
            <a:prstDash val="solid"/>
          </a:ln>
        </p:spPr>
      </p:sp>
      <p:pic>
        <p:nvPicPr>
          <p:cNvPr id="7" name="Image 1" descr="preencoded.png">    </p:cNvPr>
          <p:cNvPicPr>
            <a:picLocks noChangeAspect="1"/>
          </p:cNvPicPr>
          <p:nvPr/>
        </p:nvPicPr>
        <p:blipFill>
          <a:blip r:embed="rId2"/>
          <a:stretch>
            <a:fillRect/>
          </a:stretch>
        </p:blipFill>
        <p:spPr>
          <a:xfrm>
            <a:off x="669341" y="2379269"/>
            <a:ext cx="307238" cy="307238"/>
          </a:xfrm>
          <a:prstGeom prst="rect">
            <a:avLst/>
          </a:prstGeom>
        </p:spPr>
      </p:pic>
      <p:sp>
        <p:nvSpPr>
          <p:cNvPr id="8" name="Text 4"/>
          <p:cNvSpPr txBox="1"/>
          <p:nvPr/>
        </p:nvSpPr>
        <p:spPr>
          <a:xfrm>
            <a:off x="1234440" y="2212848"/>
            <a:ext cx="3291840" cy="685800"/>
          </a:xfrm>
          <a:prstGeom prst="rect">
            <a:avLst/>
          </a:prstGeom>
          <a:noFill/>
          <a:ln/>
        </p:spPr>
        <p:txBody>
          <a:bodyPr wrap="square" lIns="0" tIns="0" rIns="0" bIns="0" rtlCol="0" anchor="ctr"/>
          <a:lstStyle/>
          <a:p>
            <a:pPr indent="0" marL="0">
              <a:buNone/>
            </a:pPr>
            <a:r>
              <a:rPr lang="en-US" sz="1500" b="1" dirty="0">
                <a:solidFill>
                  <a:schemeClr val="tx2"/>
                </a:solidFill>
              </a:rPr>
              <a:t>Frontend</a:t>
            </a:r>
            <a:endParaRPr lang="en-US" sz="1500" dirty="0"/>
          </a:p>
          <a:p>
            <a:pPr indent="0" marL="0">
              <a:buNone/>
            </a:pPr>
            <a:r>
              <a:rPr lang="en-US" sz="1300" dirty="0">
                <a:solidFill>
                  <a:schemeClr val="tx1"/>
                </a:solidFill>
              </a:rPr>
              <a:t>React 19 · Vite · TypeScript</a:t>
            </a:r>
            <a:endParaRPr lang="en-US" sz="1500" dirty="0"/>
          </a:p>
        </p:txBody>
      </p:sp>
      <p:sp>
        <p:nvSpPr>
          <p:cNvPr id="9" name="Shape 5"/>
          <p:cNvSpPr/>
          <p:nvPr/>
        </p:nvSpPr>
        <p:spPr>
          <a:xfrm>
            <a:off x="548640" y="3191256"/>
            <a:ext cx="548640" cy="548640"/>
          </a:xfrm>
          <a:prstGeom prst="ellipse">
            <a:avLst/>
          </a:prstGeom>
          <a:solidFill>
            <a:schemeClr val="tx2"/>
          </a:solidFill>
          <a:ln w="12700">
            <a:solidFill>
              <a:schemeClr val="tx2"/>
            </a:solidFill>
            <a:prstDash val="solid"/>
          </a:ln>
        </p:spPr>
      </p:sp>
      <p:pic>
        <p:nvPicPr>
          <p:cNvPr id="10" name="Image 2" descr="preencoded.png">    </p:cNvPr>
          <p:cNvPicPr>
            <a:picLocks noChangeAspect="1"/>
          </p:cNvPicPr>
          <p:nvPr/>
        </p:nvPicPr>
        <p:blipFill>
          <a:blip r:embed="rId3"/>
          <a:stretch>
            <a:fillRect/>
          </a:stretch>
        </p:blipFill>
        <p:spPr>
          <a:xfrm>
            <a:off x="669341" y="3311957"/>
            <a:ext cx="307238" cy="307238"/>
          </a:xfrm>
          <a:prstGeom prst="rect">
            <a:avLst/>
          </a:prstGeom>
        </p:spPr>
      </p:pic>
      <p:sp>
        <p:nvSpPr>
          <p:cNvPr id="11" name="Text 6"/>
          <p:cNvSpPr txBox="1"/>
          <p:nvPr/>
        </p:nvSpPr>
        <p:spPr>
          <a:xfrm>
            <a:off x="1234440" y="3145536"/>
            <a:ext cx="3291840" cy="685800"/>
          </a:xfrm>
          <a:prstGeom prst="rect">
            <a:avLst/>
          </a:prstGeom>
          <a:noFill/>
          <a:ln/>
        </p:spPr>
        <p:txBody>
          <a:bodyPr wrap="square" lIns="0" tIns="0" rIns="0" bIns="0" rtlCol="0" anchor="ctr"/>
          <a:lstStyle/>
          <a:p>
            <a:pPr indent="0" marL="0">
              <a:buNone/>
            </a:pPr>
            <a:r>
              <a:rPr lang="en-US" sz="1500" b="1" dirty="0">
                <a:solidFill>
                  <a:schemeClr val="tx2"/>
                </a:solidFill>
              </a:rPr>
              <a:t>Base de datos</a:t>
            </a:r>
            <a:endParaRPr lang="en-US" sz="1500" dirty="0"/>
          </a:p>
          <a:p>
            <a:pPr indent="0" marL="0">
              <a:buNone/>
            </a:pPr>
            <a:r>
              <a:rPr lang="en-US" sz="1300" dirty="0">
                <a:solidFill>
                  <a:schemeClr val="tx1"/>
                </a:solidFill>
              </a:rPr>
              <a:t>PostgreSQL 16 (btree_gist)</a:t>
            </a:r>
            <a:endParaRPr lang="en-US" sz="1500" dirty="0"/>
          </a:p>
        </p:txBody>
      </p:sp>
      <p:sp>
        <p:nvSpPr>
          <p:cNvPr id="12" name="Shape 7"/>
          <p:cNvSpPr/>
          <p:nvPr/>
        </p:nvSpPr>
        <p:spPr>
          <a:xfrm>
            <a:off x="548640" y="4123944"/>
            <a:ext cx="548640" cy="548640"/>
          </a:xfrm>
          <a:prstGeom prst="ellipse">
            <a:avLst/>
          </a:prstGeom>
          <a:solidFill>
            <a:schemeClr val="tx2"/>
          </a:solidFill>
          <a:ln w="12700">
            <a:solidFill>
              <a:schemeClr val="tx2"/>
            </a:solidFill>
            <a:prstDash val="solid"/>
          </a:ln>
        </p:spPr>
      </p:sp>
      <p:pic>
        <p:nvPicPr>
          <p:cNvPr id="13" name="Image 3" descr="preencoded.png">    </p:cNvPr>
          <p:cNvPicPr>
            <a:picLocks noChangeAspect="1"/>
          </p:cNvPicPr>
          <p:nvPr/>
        </p:nvPicPr>
        <p:blipFill>
          <a:blip r:embed="rId4"/>
          <a:stretch>
            <a:fillRect/>
          </a:stretch>
        </p:blipFill>
        <p:spPr>
          <a:xfrm>
            <a:off x="669341" y="4244645"/>
            <a:ext cx="307238" cy="307238"/>
          </a:xfrm>
          <a:prstGeom prst="rect">
            <a:avLst/>
          </a:prstGeom>
        </p:spPr>
      </p:pic>
      <p:sp>
        <p:nvSpPr>
          <p:cNvPr id="14" name="Text 8"/>
          <p:cNvSpPr txBox="1"/>
          <p:nvPr/>
        </p:nvSpPr>
        <p:spPr>
          <a:xfrm>
            <a:off x="1234440" y="4078224"/>
            <a:ext cx="3291840" cy="685800"/>
          </a:xfrm>
          <a:prstGeom prst="rect">
            <a:avLst/>
          </a:prstGeom>
          <a:noFill/>
          <a:ln/>
        </p:spPr>
        <p:txBody>
          <a:bodyPr wrap="square" lIns="0" tIns="0" rIns="0" bIns="0" rtlCol="0" anchor="ctr"/>
          <a:lstStyle/>
          <a:p>
            <a:pPr indent="0" marL="0">
              <a:buNone/>
            </a:pPr>
            <a:r>
              <a:rPr lang="en-US" sz="1500" b="1" dirty="0">
                <a:solidFill>
                  <a:schemeClr val="tx2"/>
                </a:solidFill>
              </a:rPr>
              <a:t>Entorno</a:t>
            </a:r>
            <a:endParaRPr lang="en-US" sz="1500" dirty="0"/>
          </a:p>
          <a:p>
            <a:pPr indent="0" marL="0">
              <a:buNone/>
            </a:pPr>
            <a:r>
              <a:rPr lang="en-US" sz="1300" dirty="0">
                <a:solidFill>
                  <a:schemeClr val="tx1"/>
                </a:solidFill>
              </a:rPr>
              <a:t>Docker Compose · demo en 1 comando</a:t>
            </a:r>
            <a:endParaRPr lang="en-US" sz="1500" dirty="0"/>
          </a:p>
        </p:txBody>
      </p:sp>
      <p:sp>
        <p:nvSpPr>
          <p:cNvPr id="15" name="Shape 9"/>
          <p:cNvSpPr/>
          <p:nvPr/>
        </p:nvSpPr>
        <p:spPr>
          <a:xfrm>
            <a:off x="548640" y="5056632"/>
            <a:ext cx="548640" cy="548640"/>
          </a:xfrm>
          <a:prstGeom prst="ellipse">
            <a:avLst/>
          </a:prstGeom>
          <a:solidFill>
            <a:schemeClr val="tx2"/>
          </a:solidFill>
          <a:ln w="12700">
            <a:solidFill>
              <a:schemeClr val="tx2"/>
            </a:solidFill>
            <a:prstDash val="solid"/>
          </a:ln>
        </p:spPr>
      </p:sp>
      <p:pic>
        <p:nvPicPr>
          <p:cNvPr id="16" name="Image 4" descr="preencoded.png">    </p:cNvPr>
          <p:cNvPicPr>
            <a:picLocks noChangeAspect="1"/>
          </p:cNvPicPr>
          <p:nvPr/>
        </p:nvPicPr>
        <p:blipFill>
          <a:blip r:embed="rId5"/>
          <a:stretch>
            <a:fillRect/>
          </a:stretch>
        </p:blipFill>
        <p:spPr>
          <a:xfrm>
            <a:off x="669341" y="5177333"/>
            <a:ext cx="307238" cy="307238"/>
          </a:xfrm>
          <a:prstGeom prst="rect">
            <a:avLst/>
          </a:prstGeom>
        </p:spPr>
      </p:pic>
      <p:sp>
        <p:nvSpPr>
          <p:cNvPr id="17" name="Text 10"/>
          <p:cNvSpPr txBox="1"/>
          <p:nvPr/>
        </p:nvSpPr>
        <p:spPr>
          <a:xfrm>
            <a:off x="1234440" y="5010912"/>
            <a:ext cx="3291840" cy="685800"/>
          </a:xfrm>
          <a:prstGeom prst="rect">
            <a:avLst/>
          </a:prstGeom>
          <a:noFill/>
          <a:ln/>
        </p:spPr>
        <p:txBody>
          <a:bodyPr wrap="square" lIns="0" tIns="0" rIns="0" bIns="0" rtlCol="0" anchor="ctr"/>
          <a:lstStyle/>
          <a:p>
            <a:pPr indent="0" marL="0">
              <a:buNone/>
            </a:pPr>
            <a:r>
              <a:rPr lang="en-US" sz="1500" b="1" dirty="0">
                <a:solidFill>
                  <a:schemeClr val="tx2"/>
                </a:solidFill>
              </a:rPr>
              <a:t>Calidad</a:t>
            </a:r>
            <a:endParaRPr lang="en-US" sz="1500" dirty="0"/>
          </a:p>
          <a:p>
            <a:pPr indent="0" marL="0">
              <a:buNone/>
            </a:pPr>
            <a:r>
              <a:rPr lang="en-US" sz="1300" dirty="0">
                <a:solidFill>
                  <a:schemeClr val="tx1"/>
                </a:solidFill>
              </a:rPr>
              <a:t>Jest + supertest · Vitest · ESLint · Prettier</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6766560" cy="914400"/>
        </p:xfrm>
        <a:graphic>
          <a:graphicData uri="http://schemas.openxmlformats.org/drawingml/2006/table">
            <a:tbl>
              <a:tblPr/>
              <a:tblGrid>
                <a:gridCol w="1554480"/>
                <a:gridCol w="5212080"/>
              </a:tblGrid>
              <a:tr h="438912">
                <a:tc>
                  <a:txBody>
                    <a:bodyPr/>
                    <a:lstStyle/>
                    <a:p>
                      <a:pPr indent="0" marL="0">
                        <a:buNone/>
                      </a:pPr>
                      <a:r>
                        <a:rPr lang="en-US" sz="1200" b="1" dirty="0">
                          <a:solidFill>
                            <a:srgbClr val="FFFFFF"/>
                          </a:solidFill>
                        </a:rPr>
                        <a:t>Módulo</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rPr>
                        <a:t>Responsabilidad</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F1B2D"/>
                    </a:solidFill>
                  </a:tcPr>
                </a:tc>
              </a:tr>
              <a:tr h="438912">
                <a:tc>
                  <a:txBody>
                    <a:bodyPr/>
                    <a:lstStyle/>
                    <a:p>
                      <a:pPr indent="0" marL="0">
                        <a:buNone/>
                      </a:pPr>
                      <a:r>
                        <a:rPr lang="en-US" sz="1200" b="1" dirty="0">
                          <a:solidFill>
                            <a:srgbClr val="1E3A5F"/>
                          </a:solidFill>
                          <a:latin typeface="Courier New" pitchFamily="34" charset="0"/>
                          <a:ea typeface="Courier New" pitchFamily="34" charset="-122"/>
                          <a:cs typeface="Courier New" pitchFamily="34" charset="-120"/>
                        </a:rPr>
                        <a:t>auth</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200" dirty="0">
                          <a:solidFill>
                            <a:srgbClr val="1C2433"/>
                          </a:solidFill>
                        </a:rPr>
                        <a:t>Login, sesión JWT (8 h), guardia global, permisos, límite de intentos</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r h="438912">
                <a:tc>
                  <a:txBody>
                    <a:bodyPr/>
                    <a:lstStyle/>
                    <a:p>
                      <a:pPr indent="0" marL="0">
                        <a:buNone/>
                      </a:pPr>
                      <a:r>
                        <a:rPr lang="en-US" sz="1200" b="1" dirty="0">
                          <a:solidFill>
                            <a:srgbClr val="1E3A5F"/>
                          </a:solidFill>
                          <a:latin typeface="Courier New" pitchFamily="34" charset="0"/>
                          <a:ea typeface="Courier New" pitchFamily="34" charset="-122"/>
                          <a:cs typeface="Courier New" pitchFamily="34" charset="-120"/>
                        </a:rPr>
                        <a:t>usuarios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C2433"/>
                          </a:solidFill>
                        </a:rPr>
                        <a:t>Crear, cambiar rol, desactivar, restablecer contraseña</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E3A5F"/>
                          </a:solidFill>
                          <a:latin typeface="Courier New" pitchFamily="34" charset="0"/>
                          <a:ea typeface="Courier New" pitchFamily="34" charset="-122"/>
                          <a:cs typeface="Courier New" pitchFamily="34" charset="-120"/>
                        </a:rPr>
                        <a:t>habitaciones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200" dirty="0">
                          <a:solidFill>
                            <a:srgbClr val="1C2433"/>
                          </a:solidFill>
                        </a:rPr>
                        <a:t>Disponibilidad con precio; estados (limpieza, fuera de servicio)</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r h="438912">
                <a:tc>
                  <a:txBody>
                    <a:bodyPr/>
                    <a:lstStyle/>
                    <a:p>
                      <a:pPr indent="0" marL="0">
                        <a:buNone/>
                      </a:pPr>
                      <a:r>
                        <a:rPr lang="en-US" sz="1200" b="1" dirty="0">
                          <a:solidFill>
                            <a:srgbClr val="1E3A5F"/>
                          </a:solidFill>
                          <a:latin typeface="Courier New" pitchFamily="34" charset="0"/>
                          <a:ea typeface="Courier New" pitchFamily="34" charset="-122"/>
                          <a:cs typeface="Courier New" pitchFamily="34" charset="-120"/>
                        </a:rPr>
                        <a:t>tarifas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C2433"/>
                          </a:solidFill>
                        </a:rPr>
                        <a:t>Dominio puro: calendario de Colombia, temporadas, motor de tarifas</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E3A5F"/>
                          </a:solidFill>
                          <a:latin typeface="Courier New" pitchFamily="34" charset="0"/>
                          <a:ea typeface="Courier New" pitchFamily="34" charset="-122"/>
                          <a:cs typeface="Courier New" pitchFamily="34" charset="-120"/>
                        </a:rPr>
                        <a:t>reservas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200" dirty="0">
                          <a:solidFill>
                            <a:srgbClr val="1C2433"/>
                          </a:solidFill>
                        </a:rPr>
                        <a:t>Crear, check-in, check-out, cancelar, no-show; auditoría</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r h="438912">
                <a:tc>
                  <a:txBody>
                    <a:bodyPr/>
                    <a:lstStyle/>
                    <a:p>
                      <a:pPr indent="0" marL="0">
                        <a:buNone/>
                      </a:pPr>
                      <a:r>
                        <a:rPr lang="en-US" sz="1200" b="1" dirty="0">
                          <a:solidFill>
                            <a:srgbClr val="1E3A5F"/>
                          </a:solidFill>
                          <a:latin typeface="Courier New" pitchFamily="34" charset="0"/>
                          <a:ea typeface="Courier New" pitchFamily="34" charset="-122"/>
                          <a:cs typeface="Courier New" pitchFamily="34" charset="-120"/>
                        </a:rPr>
                        <a:t>folio</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C2433"/>
                          </a:solidFill>
                        </a:rPr>
                        <a:t>Consumos cargados a la habitación y liquidación</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E3A5F"/>
                          </a:solidFill>
                          <a:latin typeface="Courier New" pitchFamily="34" charset="0"/>
                          <a:ea typeface="Courier New" pitchFamily="34" charset="-122"/>
                          <a:cs typeface="Courier New" pitchFamily="34" charset="-120"/>
                        </a:rPr>
                        <a:t>huespedes</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200" dirty="0">
                          <a:solidFill>
                            <a:srgbClr val="1C2433"/>
                          </a:solidFill>
                        </a:rPr>
                        <a:t>Huésped único por documento, búsqueda e historial</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r h="438912">
                <a:tc>
                  <a:txBody>
                    <a:bodyPr/>
                    <a:lstStyle/>
                    <a:p>
                      <a:pPr indent="0" marL="0">
                        <a:buNone/>
                      </a:pPr>
                      <a:r>
                        <a:rPr lang="en-US" sz="1200" b="1" dirty="0">
                          <a:solidFill>
                            <a:srgbClr val="1E3A5F"/>
                          </a:solidFill>
                          <a:latin typeface="Courier New" pitchFamily="34" charset="0"/>
                          <a:ea typeface="Courier New" pitchFamily="34" charset="-122"/>
                          <a:cs typeface="Courier New" pitchFamily="34" charset="-120"/>
                        </a:rPr>
                        <a:t>panel</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C2433"/>
                          </a:solidFill>
                        </a:rPr>
                        <a:t>Panel "Hoy" y calendario de ocupación</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1E3A5F"/>
                          </a:solidFill>
                          <a:latin typeface="Courier New" pitchFamily="34" charset="0"/>
                          <a:ea typeface="Courier New" pitchFamily="34" charset="-122"/>
                          <a:cs typeface="Courier New" pitchFamily="34" charset="-120"/>
                        </a:rPr>
                        <a:t>hotel</a:t>
                      </a:r>
                      <a:endParaRPr lang="en-US" sz="1200" dirty="0">
                        <a:latin typeface="Courier New" charset="0"/>
                        <a:ea typeface="Courier New" charset="0"/>
                        <a:cs typeface="Courier New" charset="0"/>
                      </a:endParaRPr>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200" dirty="0">
                          <a:solidFill>
                            <a:srgbClr val="1C2433"/>
                          </a:solidFill>
                        </a:rPr>
                        <a:t>Políticas (horarios, plazos, multiplicadores, IVA) y reloj</a:t>
                      </a:r>
                      <a:endParaRPr lang="en-US" sz="12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 regla que nunca se rompe: no sobreventa</a:t>
            </a:r>
            <a:endParaRPr lang="en-US" sz="3200" dirty="0"/>
          </a:p>
        </p:txBody>
      </p:sp>
      <p:sp>
        <p:nvSpPr>
          <p:cNvPr id="3" name="Shape 1"/>
          <p:cNvSpPr/>
          <p:nvPr/>
        </p:nvSpPr>
        <p:spPr>
          <a:xfrm>
            <a:off x="548640" y="1325880"/>
            <a:ext cx="6583680" cy="3017520"/>
          </a:xfrm>
          <a:prstGeom prst="roundRect">
            <a:avLst>
              <a:gd name="adj" fmla="val 3030"/>
            </a:avLst>
          </a:prstGeom>
          <a:solidFill>
            <a:schemeClr val="tx2"/>
          </a:solidFill>
          <a:ln w="12700">
            <a:solidFill>
              <a:schemeClr val="tx2"/>
            </a:solidFill>
            <a:prstDash val="solid"/>
          </a:ln>
        </p:spPr>
      </p:sp>
      <p:sp>
        <p:nvSpPr>
          <p:cNvPr id="4" name="Text 2"/>
          <p:cNvSpPr txBox="1"/>
          <p:nvPr/>
        </p:nvSpPr>
        <p:spPr>
          <a:xfrm>
            <a:off x="822960" y="1508760"/>
            <a:ext cx="6217920" cy="2651760"/>
          </a:xfrm>
          <a:prstGeom prst="rect">
            <a:avLst/>
          </a:prstGeom>
          <a:noFill/>
          <a:ln/>
        </p:spPr>
        <p:txBody>
          <a:bodyPr wrap="square" lIns="0" tIns="0" rIns="0" bIns="0" rtlCol="0" anchor="t"/>
          <a:lstStyle/>
          <a:p>
            <a:pPr indent="0" marL="0">
              <a:buNone/>
            </a:pPr>
            <a:r>
              <a:rPr lang="en-US" sz="1400" dirty="0">
                <a:solidFill>
                  <a:srgbClr val="8FA3BF"/>
                </a:solidFill>
                <a:latin typeface="Courier New" pitchFamily="34" charset="0"/>
                <a:ea typeface="Courier New" pitchFamily="34" charset="-122"/>
                <a:cs typeface="Courier New" pitchFamily="34" charset="-120"/>
              </a:rPr>
              <a:t>-- Garantía atómica en PostgreSQL</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ALTER TABLE "reserva"</a:t>
            </a:r>
            <a:endParaRPr lang="en-US" sz="1400" dirty="0"/>
          </a:p>
          <a:p>
            <a:pPr indent="0" marL="0">
              <a:buNone/>
            </a:pPr>
            <a:r>
              <a:rPr lang="en-US" sz="1400" dirty="0">
                <a:solidFill>
                  <a:srgbClr val="E2C773"/>
                </a:solidFill>
                <a:latin typeface="Courier New" pitchFamily="34" charset="0"/>
                <a:ea typeface="Courier New" pitchFamily="34" charset="-122"/>
                <a:cs typeface="Courier New" pitchFamily="34" charset="-120"/>
              </a:rPr>
              <a:t>  ADD CONSTRAINT reserva_sin_sobreventa</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EXCLUDE USING gist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habitacion_id WITH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daterange(fecha_entrada, fecha_salida, '[)') WITH &amp;&amp;</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WHERE (estado IN ('confirmada', 'activa'));</a:t>
            </a:r>
            <a:endParaRPr lang="en-US" sz="1400" dirty="0"/>
          </a:p>
        </p:txBody>
      </p:sp>
      <p:sp>
        <p:nvSpPr>
          <p:cNvPr id="5" name="Text 3"/>
          <p:cNvSpPr txBox="1"/>
          <p:nvPr/>
        </p:nvSpPr>
        <p:spPr>
          <a:xfrm>
            <a:off x="548640" y="4526280"/>
            <a:ext cx="6583680" cy="1097280"/>
          </a:xfrm>
          <a:prstGeom prst="rect">
            <a:avLst/>
          </a:prstGeom>
          <a:noFill/>
          <a:ln/>
        </p:spPr>
        <p:txBody>
          <a:bodyPr wrap="square" lIns="0" tIns="0" rIns="0" bIns="0" rtlCol="0" anchor="t"/>
          <a:lstStyle/>
          <a:p>
            <a:pPr indent="0" marL="0">
              <a:buNone/>
            </a:pPr>
            <a:r>
              <a:rPr lang="en-US" sz="1400" dirty="0">
                <a:solidFill>
                  <a:schemeClr val="tx1"/>
                </a:solidFill>
              </a:rPr>
              <a:t>El rango </a:t>
            </a:r>
            <a:pPr indent="0" marL="0">
              <a:buNone/>
            </a:pPr>
            <a:r>
              <a:rPr lang="en-US" sz="1400" b="1"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rPr>
              <a:t> deja libre el día de salida. Canceladas, cerradas y no-shows no bloquean. El servicio hace una verificación previa solo para responder un </a:t>
            </a:r>
            <a:pPr indent="0" marL="0">
              <a:buNone/>
            </a:pPr>
            <a:r>
              <a:rPr lang="en-US" sz="1400" b="1" dirty="0">
                <a:solidFill>
                  <a:schemeClr val="tx1"/>
                </a:solidFill>
              </a:rPr>
              <a:t>409 Conflict</a:t>
            </a:r>
            <a:pPr indent="0" marL="0">
              <a:buNone/>
            </a:pPr>
            <a:r>
              <a:rPr lang="en-US" sz="1400" dirty="0">
                <a:solidFill>
                  <a:schemeClr val="tx1"/>
                </a:solidFill>
              </a:rPr>
              <a:t> claro en vez de un 500.</a:t>
            </a:r>
            <a:endParaRPr lang="en-US" sz="1400" dirty="0"/>
          </a:p>
        </p:txBody>
      </p:sp>
      <p:sp>
        <p:nvSpPr>
          <p:cNvPr id="6" name="Shape 4"/>
          <p:cNvSpPr/>
          <p:nvPr/>
        </p:nvSpPr>
        <p:spPr>
          <a:xfrm>
            <a:off x="7589520" y="1325880"/>
            <a:ext cx="4023360" cy="1965960"/>
          </a:xfrm>
          <a:prstGeom prst="roundRect">
            <a:avLst>
              <a:gd name="adj" fmla="val 5581"/>
            </a:avLst>
          </a:prstGeom>
          <a:solidFill>
            <a:srgbClr val="E6F4EA"/>
          </a:solidFill>
          <a:ln w="12700">
            <a:solidFill>
              <a:srgbClr val="E6F4EA"/>
            </a:solidFill>
            <a:prstDash val="solid"/>
          </a:ln>
        </p:spPr>
      </p:sp>
      <p:sp>
        <p:nvSpPr>
          <p:cNvPr id="7" name="Text 5"/>
          <p:cNvSpPr txBox="1"/>
          <p:nvPr/>
        </p:nvSpPr>
        <p:spPr>
          <a:xfrm>
            <a:off x="7863840" y="1508760"/>
            <a:ext cx="3566160" cy="86868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10 → 1</a:t>
            </a:r>
            <a:endParaRPr lang="en-US" sz="4800" dirty="0"/>
          </a:p>
        </p:txBody>
      </p:sp>
      <p:sp>
        <p:nvSpPr>
          <p:cNvPr id="8" name="Text 6"/>
          <p:cNvSpPr txBox="1"/>
          <p:nvPr/>
        </p:nvSpPr>
        <p:spPr>
          <a:xfrm>
            <a:off x="7863840" y="2377440"/>
            <a:ext cx="3566160" cy="777240"/>
          </a:xfrm>
          <a:prstGeom prst="rect">
            <a:avLst/>
          </a:prstGeom>
          <a:noFill/>
          <a:ln/>
        </p:spPr>
        <p:txBody>
          <a:bodyPr wrap="square" lIns="0" tIns="0" rIns="0" bIns="0" rtlCol="0" anchor="t"/>
          <a:lstStyle/>
          <a:p>
            <a:pPr indent="0" marL="0">
              <a:buNone/>
            </a:pPr>
            <a:r>
              <a:rPr lang="en-US" sz="1400" dirty="0">
                <a:solidFill>
                  <a:schemeClr val="tx1"/>
                </a:solidFill>
              </a:rPr>
              <a:t>10 reservas simultáneas de la misma habitación: solo una se crea</a:t>
            </a:r>
            <a:endParaRPr lang="en-US" sz="1400" dirty="0"/>
          </a:p>
        </p:txBody>
      </p:sp>
      <p:sp>
        <p:nvSpPr>
          <p:cNvPr id="9" name="Shape 7"/>
          <p:cNvSpPr/>
          <p:nvPr/>
        </p:nvSpPr>
        <p:spPr>
          <a:xfrm>
            <a:off x="7589520" y="3566160"/>
            <a:ext cx="4023360" cy="1965960"/>
          </a:xfrm>
          <a:prstGeom prst="roundRect">
            <a:avLst>
              <a:gd name="adj" fmla="val 5581"/>
            </a:avLst>
          </a:prstGeom>
          <a:solidFill>
            <a:srgbClr val="FBE9E7"/>
          </a:solidFill>
          <a:ln w="12700">
            <a:solidFill>
              <a:srgbClr val="FBE9E7"/>
            </a:solidFill>
            <a:prstDash val="solid"/>
          </a:ln>
        </p:spPr>
      </p:sp>
      <p:sp>
        <p:nvSpPr>
          <p:cNvPr id="10" name="Text 8"/>
          <p:cNvSpPr txBox="1"/>
          <p:nvPr/>
        </p:nvSpPr>
        <p:spPr>
          <a:xfrm>
            <a:off x="7863840" y="3749040"/>
            <a:ext cx="3566160" cy="868680"/>
          </a:xfrm>
          <a:prstGeom prst="rect">
            <a:avLst/>
          </a:prstGeom>
          <a:noFill/>
          <a:ln/>
        </p:spPr>
        <p:txBody>
          <a:bodyPr wrap="square" lIns="0" tIns="0" rIns="0" bIns="0" rtlCol="0" anchor="ctr"/>
          <a:lstStyle/>
          <a:p>
            <a:pPr indent="0" marL="0">
              <a:buNone/>
            </a:pPr>
            <a:r>
              <a:rPr lang="en-US" sz="4800" b="1" dirty="0">
                <a:solidFill>
                  <a:schemeClr val="accent5"/>
                </a:solidFill>
                <a:latin typeface="Cambria" pitchFamily="34" charset="0"/>
                <a:ea typeface="Cambria" pitchFamily="34" charset="-122"/>
                <a:cs typeface="Cambria" pitchFamily="34" charset="-120"/>
              </a:rPr>
              <a:t>10 → 10</a:t>
            </a:r>
            <a:endParaRPr lang="en-US" sz="4800" dirty="0"/>
          </a:p>
        </p:txBody>
      </p:sp>
      <p:sp>
        <p:nvSpPr>
          <p:cNvPr id="11" name="Text 9"/>
          <p:cNvSpPr txBox="1"/>
          <p:nvPr/>
        </p:nvSpPr>
        <p:spPr>
          <a:xfrm>
            <a:off x="7863840" y="4617720"/>
            <a:ext cx="3566160" cy="777240"/>
          </a:xfrm>
          <a:prstGeom prst="rect">
            <a:avLst/>
          </a:prstGeom>
          <a:noFill/>
          <a:ln/>
        </p:spPr>
        <p:txBody>
          <a:bodyPr wrap="square" lIns="0" tIns="0" rIns="0" bIns="0" rtlCol="0" anchor="t"/>
          <a:lstStyle/>
          <a:p>
            <a:pPr indent="0" marL="0">
              <a:buNone/>
            </a:pPr>
            <a:r>
              <a:rPr lang="en-US" sz="1400" dirty="0">
                <a:solidFill>
                  <a:schemeClr val="tx1"/>
                </a:solidFill>
              </a:rPr>
              <a:t>Experimento sin la restricción: las 10 se crean. Un if en el código no basta</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Cada invariante tiene un guardián y una prueba</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108960"/>
                <a:gridCol w="4572000"/>
                <a:gridCol w="3383280"/>
              </a:tblGrid>
              <a:tr h="566928">
                <a:tc>
                  <a:txBody>
                    <a:bodyPr/>
                    <a:lstStyle/>
                    <a:p>
                      <a:pPr indent="0" marL="0">
                        <a:buNone/>
                      </a:pPr>
                      <a:r>
                        <a:rPr lang="en-US" sz="1300" b="1" dirty="0">
                          <a:solidFill>
                            <a:srgbClr val="FFFFFF"/>
                          </a:solidFill>
                        </a:rPr>
                        <a:t>Invariante</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F1B2D"/>
                    </a:solidFill>
                  </a:tcPr>
                </a:tc>
                <a:tc>
                  <a:txBody>
                    <a:bodyPr/>
                    <a:lstStyle/>
                    <a:p>
                      <a:pPr indent="0" marL="0">
                        <a:buNone/>
                      </a:pPr>
                      <a:r>
                        <a:rPr lang="en-US" sz="1300" b="1" dirty="0">
                          <a:solidFill>
                            <a:srgbClr val="FFFFFF"/>
                          </a:solidFill>
                        </a:rPr>
                        <a:t>Dónde se protege</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F1B2D"/>
                    </a:solidFill>
                  </a:tcPr>
                </a:tc>
                <a:tc>
                  <a:txBody>
                    <a:bodyPr/>
                    <a:lstStyle/>
                    <a:p>
                      <a:pPr indent="0" marL="0">
                        <a:buNone/>
                      </a:pPr>
                      <a:r>
                        <a:rPr lang="en-US" sz="1300" b="1" dirty="0">
                          <a:solidFill>
                            <a:srgbClr val="FFFFFF"/>
                          </a:solidFill>
                        </a:rPr>
                        <a:t>Cómo se prueba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F1B2D"/>
                    </a:solidFill>
                  </a:tcPr>
                </a:tc>
              </a:tr>
              <a:tr h="566928">
                <a:tc>
                  <a:txBody>
                    <a:bodyPr/>
                    <a:lstStyle/>
                    <a:p>
                      <a:pPr indent="0" marL="0">
                        <a:buNone/>
                      </a:pPr>
                      <a:r>
                        <a:rPr lang="en-US" sz="1300" b="1" dirty="0">
                          <a:solidFill>
                            <a:srgbClr val="1C2433"/>
                          </a:solidFill>
                        </a:rPr>
                        <a:t>No sobreventa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300" dirty="0">
                          <a:solidFill>
                            <a:srgbClr val="1C2433"/>
                          </a:solidFill>
                        </a:rPr>
                        <a:t>Restricción EXCLUDE USING gist (atómica)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300" dirty="0">
                          <a:solidFill>
                            <a:srgbClr val="1C2433"/>
                          </a:solidFill>
                        </a:rPr>
                        <a:t>10 simultáneas → 1 gana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r h="566928">
                <a:tc>
                  <a:txBody>
                    <a:bodyPr/>
                    <a:lstStyle/>
                    <a:p>
                      <a:pPr indent="0" marL="0">
                        <a:buNone/>
                      </a:pPr>
                      <a:r>
                        <a:rPr lang="en-US" sz="1300" b="1" dirty="0">
                          <a:solidFill>
                            <a:srgbClr val="1C2433"/>
                          </a:solidFill>
                        </a:rPr>
                        <a:t>Tarifa por noche, adicionales e IVA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C2433"/>
                          </a:solidFill>
                        </a:rPr>
                        <a:t>Motor de tarificación puro; desglose congelado</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C2433"/>
                          </a:solidFill>
                        </a:rPr>
                        <a:t>24 pruebas unitarias sin BD</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C2433"/>
                          </a:solidFill>
                        </a:rPr>
                        <a:t>Consumos solo con estadía activa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300" dirty="0">
                          <a:solidFill>
                            <a:srgbClr val="1C2433"/>
                          </a:solidFill>
                        </a:rPr>
                        <a:t>Transacción con SELECT … FOR UPDATE sobre la reserva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300" dirty="0">
                          <a:solidFill>
                            <a:srgbClr val="1C2433"/>
                          </a:solidFill>
                        </a:rPr>
                        <a:t>Sin el bloqueo fallaba 4 de 5 veces</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r h="566928">
                <a:tc>
                  <a:txBody>
                    <a:bodyPr/>
                    <a:lstStyle/>
                    <a:p>
                      <a:pPr indent="0" marL="0">
                        <a:buNone/>
                      </a:pPr>
                      <a:r>
                        <a:rPr lang="en-US" sz="1300" b="1" dirty="0">
                          <a:solidFill>
                            <a:srgbClr val="1C2433"/>
                          </a:solidFill>
                        </a:rPr>
                        <a:t>El check-out liquida el folio</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C2433"/>
                          </a:solidFill>
                        </a:rPr>
                        <a:t>Transacción única: alojamiento + consumos + pago + limpieza + auditoría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C2433"/>
                          </a:solidFill>
                        </a:rPr>
                        <a:t>Liquidación, anulaciones, cargos tardíos</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C2433"/>
                          </a:solidFill>
                        </a:rPr>
                        <a:t>Solo se entrega una habitación lista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300" dirty="0">
                          <a:solidFill>
                            <a:srgbClr val="1C2433"/>
                          </a:solidFill>
                        </a:rPr>
                        <a:t>Actualización condicionada "solo si está libre"</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300" dirty="0">
                          <a:solidFill>
                            <a:srgbClr val="1C2433"/>
                          </a:solidFill>
                        </a:rPr>
                        <a:t>Ciclo libre → ocupada → limpieza → libre</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r h="566928">
                <a:tc>
                  <a:txBody>
                    <a:bodyPr/>
                    <a:lstStyle/>
                    <a:p>
                      <a:pPr indent="0" marL="0">
                        <a:buNone/>
                      </a:pPr>
                      <a:r>
                        <a:rPr lang="en-US" sz="1300" b="1" dirty="0">
                          <a:solidFill>
                            <a:srgbClr val="1C2433"/>
                          </a:solidFill>
                        </a:rPr>
                        <a:t>Cada acción atribuida a una persona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C2433"/>
                          </a:solidFill>
                        </a:rPr>
                        <a:t>Evento de auditoría en la misma transacción; FK RESTRICT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C2433"/>
                          </a:solidFill>
                        </a:rPr>
                        <a:t>Rechazo sin rastro; éxito siempre registrado</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C2433"/>
                          </a:solidFill>
                        </a:rPr>
                        <a:t>Un huésped no se duplica</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300" dirty="0">
                          <a:solidFill>
                            <a:srgbClr val="1C2433"/>
                          </a:solidFill>
                        </a:rPr>
                        <a:t>Índice único tipo + documento normalizado</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indent="0" marL="0">
                        <a:buNone/>
                      </a:pPr>
                      <a:r>
                        <a:rPr lang="en-US" sz="1300" dirty="0">
                          <a:solidFill>
                            <a:srgbClr val="1C2433"/>
                          </a:solidFill>
                        </a:rPr>
                        <a:t>Dos reservas simultáneas → un solo huésped</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Tarifas: cada noche se cobra según su temporada</a:t>
            </a:r>
            <a:endParaRPr lang="en-US" sz="3200" dirty="0"/>
          </a:p>
        </p:txBody>
      </p:sp>
      <p:sp>
        <p:nvSpPr>
          <p:cNvPr id="3" name="Shape 1"/>
          <p:cNvSpPr/>
          <p:nvPr/>
        </p:nvSpPr>
        <p:spPr>
          <a:xfrm>
            <a:off x="548640" y="1325880"/>
            <a:ext cx="1600200" cy="1371600"/>
          </a:xfrm>
          <a:prstGeom prst="roundRect">
            <a:avLst>
              <a:gd name="adj" fmla="val 8000"/>
            </a:avLst>
          </a:prstGeom>
          <a:solidFill>
            <a:schemeClr val="bg2"/>
          </a:solidFill>
          <a:ln w="12700">
            <a:solidFill>
              <a:schemeClr val="bg2"/>
            </a:solidFill>
            <a:prstDash val="solid"/>
          </a:ln>
        </p:spPr>
      </p:sp>
      <p:sp>
        <p:nvSpPr>
          <p:cNvPr id="4" name="Text 2"/>
          <p:cNvSpPr txBox="1"/>
          <p:nvPr/>
        </p:nvSpPr>
        <p:spPr>
          <a:xfrm>
            <a:off x="548640" y="1325880"/>
            <a:ext cx="1600200" cy="1371600"/>
          </a:xfrm>
          <a:prstGeom prst="rect">
            <a:avLst/>
          </a:prstGeom>
          <a:noFill/>
          <a:ln/>
        </p:spPr>
        <p:txBody>
          <a:bodyPr wrap="square" lIns="0" tIns="0" rIns="0" bIns="0" rtlCol="0" anchor="ctr"/>
          <a:lstStyle/>
          <a:p>
            <a:pPr algn="ctr" indent="0" marL="0">
              <a:buNone/>
            </a:pPr>
            <a:r>
              <a:rPr lang="en-US" sz="1400" dirty="0">
                <a:solidFill>
                  <a:schemeClr val="tx2"/>
                </a:solidFill>
              </a:rPr>
              <a:t>Baja</a:t>
            </a:r>
            <a:endParaRPr lang="en-US" sz="1400" dirty="0"/>
          </a:p>
          <a:p>
            <a:pPr algn="ctr" indent="0" marL="0">
              <a:buNone/>
            </a:pPr>
            <a:r>
              <a:rPr lang="en-US" sz="3000" b="1" dirty="0">
                <a:solidFill>
                  <a:schemeClr val="tx2"/>
                </a:solidFill>
                <a:latin typeface="Cambria" pitchFamily="34" charset="0"/>
                <a:ea typeface="Cambria" pitchFamily="34" charset="-122"/>
                <a:cs typeface="Cambria" pitchFamily="34" charset="-120"/>
              </a:rPr>
              <a:t>×1,00</a:t>
            </a:r>
            <a:endParaRPr lang="en-US" sz="1400" dirty="0"/>
          </a:p>
        </p:txBody>
      </p:sp>
      <p:sp>
        <p:nvSpPr>
          <p:cNvPr id="5" name="Shape 3"/>
          <p:cNvSpPr/>
          <p:nvPr/>
        </p:nvSpPr>
        <p:spPr>
          <a:xfrm>
            <a:off x="2331720" y="1325880"/>
            <a:ext cx="1600200" cy="1371600"/>
          </a:xfrm>
          <a:prstGeom prst="roundRect">
            <a:avLst>
              <a:gd name="adj" fmla="val 8000"/>
            </a:avLst>
          </a:prstGeom>
          <a:solidFill>
            <a:schemeClr val="accent3"/>
          </a:solidFill>
          <a:ln w="12700">
            <a:solidFill>
              <a:schemeClr val="accent3"/>
            </a:solidFill>
            <a:prstDash val="solid"/>
          </a:ln>
        </p:spPr>
      </p:sp>
      <p:sp>
        <p:nvSpPr>
          <p:cNvPr id="6" name="Text 4"/>
          <p:cNvSpPr txBox="1"/>
          <p:nvPr/>
        </p:nvSpPr>
        <p:spPr>
          <a:xfrm>
            <a:off x="2331720" y="1325880"/>
            <a:ext cx="1600200" cy="1371600"/>
          </a:xfrm>
          <a:prstGeom prst="rect">
            <a:avLst/>
          </a:prstGeom>
          <a:noFill/>
          <a:ln/>
        </p:spPr>
        <p:txBody>
          <a:bodyPr wrap="square" lIns="0" tIns="0" rIns="0" bIns="0" rtlCol="0" anchor="ctr"/>
          <a:lstStyle/>
          <a:p>
            <a:pPr algn="ctr" indent="0" marL="0">
              <a:buNone/>
            </a:pPr>
            <a:r>
              <a:rPr lang="en-US" sz="1400" dirty="0">
                <a:solidFill>
                  <a:schemeClr val="bg1"/>
                </a:solidFill>
              </a:rPr>
              <a:t>Media</a:t>
            </a:r>
            <a:endParaRPr lang="en-US" sz="1400" dirty="0"/>
          </a:p>
          <a:p>
            <a:pPr algn="ctr" indent="0" marL="0">
              <a:buNone/>
            </a:pPr>
            <a:r>
              <a:rPr lang="en-US" sz="3000" b="1" dirty="0">
                <a:solidFill>
                  <a:schemeClr val="bg1"/>
                </a:solidFill>
                <a:latin typeface="Cambria" pitchFamily="34" charset="0"/>
                <a:ea typeface="Cambria" pitchFamily="34" charset="-122"/>
                <a:cs typeface="Cambria" pitchFamily="34" charset="-120"/>
              </a:rPr>
              <a:t>×1,15</a:t>
            </a:r>
            <a:endParaRPr lang="en-US" sz="1400" dirty="0"/>
          </a:p>
        </p:txBody>
      </p:sp>
      <p:sp>
        <p:nvSpPr>
          <p:cNvPr id="7" name="Shape 5"/>
          <p:cNvSpPr/>
          <p:nvPr/>
        </p:nvSpPr>
        <p:spPr>
          <a:xfrm>
            <a:off x="4114800" y="1325880"/>
            <a:ext cx="1600200" cy="1371600"/>
          </a:xfrm>
          <a:prstGeom prst="roundRect">
            <a:avLst>
              <a:gd name="adj" fmla="val 8000"/>
            </a:avLst>
          </a:prstGeom>
          <a:solidFill>
            <a:schemeClr val="accent1"/>
          </a:solidFill>
          <a:ln w="12700">
            <a:solidFill>
              <a:schemeClr val="accent1"/>
            </a:solidFill>
            <a:prstDash val="solid"/>
          </a:ln>
        </p:spPr>
      </p:sp>
      <p:sp>
        <p:nvSpPr>
          <p:cNvPr id="8" name="Text 6"/>
          <p:cNvSpPr txBox="1"/>
          <p:nvPr/>
        </p:nvSpPr>
        <p:spPr>
          <a:xfrm>
            <a:off x="4114800" y="1325880"/>
            <a:ext cx="1600200" cy="1371600"/>
          </a:xfrm>
          <a:prstGeom prst="rect">
            <a:avLst/>
          </a:prstGeom>
          <a:noFill/>
          <a:ln/>
        </p:spPr>
        <p:txBody>
          <a:bodyPr wrap="square" lIns="0" tIns="0" rIns="0" bIns="0" rtlCol="0" anchor="ctr"/>
          <a:lstStyle/>
          <a:p>
            <a:pPr algn="ctr" indent="0" marL="0">
              <a:buNone/>
            </a:pPr>
            <a:r>
              <a:rPr lang="en-US" sz="1400" dirty="0">
                <a:solidFill>
                  <a:schemeClr val="tx2"/>
                </a:solidFill>
              </a:rPr>
              <a:t>Alta</a:t>
            </a:r>
            <a:endParaRPr lang="en-US" sz="1400" dirty="0"/>
          </a:p>
          <a:p>
            <a:pPr algn="ctr" indent="0" marL="0">
              <a:buNone/>
            </a:pPr>
            <a:r>
              <a:rPr lang="en-US" sz="3000" b="1" dirty="0">
                <a:solidFill>
                  <a:schemeClr val="tx2"/>
                </a:solidFill>
                <a:latin typeface="Cambria" pitchFamily="34" charset="0"/>
                <a:ea typeface="Cambria" pitchFamily="34" charset="-122"/>
                <a:cs typeface="Cambria" pitchFamily="34" charset="-120"/>
              </a:rPr>
              <a:t>×1,30</a:t>
            </a:r>
            <a:endParaRPr lang="en-US" sz="1400" dirty="0"/>
          </a:p>
        </p:txBody>
      </p:sp>
      <p:sp>
        <p:nvSpPr>
          <p:cNvPr id="9" name="Text 7"/>
          <p:cNvSpPr txBox="1"/>
          <p:nvPr/>
        </p:nvSpPr>
        <p:spPr>
          <a:xfrm>
            <a:off x="548640" y="2926080"/>
            <a:ext cx="5166360" cy="3108960"/>
          </a:xfrm>
          <a:prstGeom prst="rect">
            <a:avLst/>
          </a:prstGeom>
          <a:noFill/>
          <a:ln/>
        </p:spPr>
        <p:txBody>
          <a:bodyPr wrap="square" lIns="0" tIns="0" rIns="0" bIns="0" rtlCol="0" anchor="t"/>
          <a:lstStyle/>
          <a:p>
            <a:pPr indent="0" marL="0">
              <a:spcAft>
                <a:spcPts val="1000"/>
              </a:spcAft>
              <a:buNone/>
            </a:pPr>
            <a:r>
              <a:rPr lang="en-US" sz="1400" b="1" dirty="0">
                <a:solidFill>
                  <a:srgbClr val="0F1B2D"/>
                </a:solidFill>
              </a:rPr>
              <a:t>Calendario calculado: </a:t>
            </a:r>
            <a:pPr indent="0" marL="0">
              <a:spcAft>
                <a:spcPts val="1000"/>
              </a:spcAft>
              <a:buNone/>
            </a:pPr>
            <a:r>
              <a:rPr lang="en-US" sz="1400" dirty="0">
                <a:solidFill>
                  <a:schemeClr val="tx1"/>
                </a:solidFill>
              </a:rPr>
              <a:t>Pascua (algoritmo gregoriano) y festivos de Colombia con Ley Emiliani para cualquier año.</a:t>
            </a:r>
            <a:endParaRPr lang="en-US" sz="1400" dirty="0"/>
          </a:p>
          <a:p>
            <a:pPr indent="0" marL="0">
              <a:spcAft>
                <a:spcPts val="1000"/>
              </a:spcAft>
              <a:buNone/>
            </a:pPr>
            <a:r>
              <a:rPr lang="en-US" sz="1400" b="1" dirty="0">
                <a:solidFill>
                  <a:srgbClr val="0F1B2D"/>
                </a:solidFill>
              </a:rPr>
              <a:t>Por tipo de habitación: </a:t>
            </a:r>
            <a:pPr indent="0" marL="0">
              <a:spcAft>
                <a:spcPts val="1000"/>
              </a:spcAft>
              <a:buNone/>
            </a:pPr>
            <a:r>
              <a:rPr lang="en-US" sz="1400" dirty="0">
                <a:solidFill>
                  <a:schemeClr val="tx1"/>
                </a:solidFill>
              </a:rPr>
              <a:t>Tarifa base, capacidad incluida y máxima, cargo por persona adicional.</a:t>
            </a:r>
            <a:endParaRPr lang="en-US" sz="1400" dirty="0"/>
          </a:p>
          <a:p>
            <a:pPr indent="0" marL="0">
              <a:spcAft>
                <a:spcPts val="1000"/>
              </a:spcAft>
              <a:buNone/>
            </a:pPr>
            <a:r>
              <a:rPr lang="en-US" sz="1400" b="1" dirty="0">
                <a:solidFill>
                  <a:srgbClr val="0F1B2D"/>
                </a:solidFill>
              </a:rPr>
              <a:t>IVA 19 %: </a:t>
            </a:r>
            <a:pPr indent="0" marL="0">
              <a:spcAft>
                <a:spcPts val="1000"/>
              </a:spcAft>
              <a:buNone/>
            </a:pPr>
            <a:r>
              <a:rPr lang="en-US" sz="1400" dirty="0">
                <a:solidFill>
                  <a:schemeClr val="tx1"/>
                </a:solidFill>
              </a:rPr>
              <a:t>Configurable; exento para huésped con pasaporte (por validar con contador).</a:t>
            </a:r>
            <a:endParaRPr lang="en-US" sz="1400" dirty="0"/>
          </a:p>
          <a:p>
            <a:pPr indent="0" marL="0">
              <a:spcAft>
                <a:spcPts val="1000"/>
              </a:spcAft>
              <a:buNone/>
            </a:pPr>
            <a:r>
              <a:rPr lang="en-US" sz="1400" b="1" dirty="0">
                <a:solidFill>
                  <a:srgbClr val="0F1B2D"/>
                </a:solidFill>
              </a:rPr>
              <a:t>Precio congelado: </a:t>
            </a:r>
            <a:pPr indent="0" marL="0">
              <a:spcAft>
                <a:spcPts val="1000"/>
              </a:spcAft>
              <a:buNone/>
            </a:pPr>
            <a:r>
              <a:rPr lang="en-US" sz="1400" dirty="0">
                <a:solidFill>
                  <a:schemeClr val="tx1"/>
                </a:solidFill>
              </a:rPr>
              <a:t>El desglose noche a noche se guarda en la reserva; si cambian las tarifas, lo pactado se respeta.</a:t>
            </a:r>
            <a:endParaRPr lang="en-US" sz="1400" dirty="0"/>
          </a:p>
        </p:txBody>
      </p:sp>
      <p:pic>
        <p:nvPicPr>
          <p:cNvPr id="10" name="Image 0" descr="/tmp/claude-0/shots/tarifas.png">    </p:cNvPr>
          <p:cNvPicPr>
            <a:picLocks noChangeAspect="1"/>
          </p:cNvPicPr>
          <p:nvPr/>
        </p:nvPicPr>
        <p:blipFill>
          <a:blip r:embed="rId1"/>
          <a:stretch>
            <a:fillRect/>
          </a:stretch>
        </p:blipFill>
        <p:spPr>
          <a:xfrm>
            <a:off x="5989320" y="1325880"/>
            <a:ext cx="5623560" cy="3514725"/>
          </a:xfrm>
          <a:prstGeom prst="rect">
            <a:avLst/>
          </a:prstGeom>
          <a:effectLst>
            <a:outerShdw sx="100000" sy="100000" kx="0" ky="0" algn="bl" rotWithShape="0" blurRad="101600" dist="25400" dir="5400000">
              <a:srgbClr val="0F1B2D">
                <a:alpha val="12000"/>
              </a:srgbClr>
            </a:outerShdw>
          </a:effectLst>
        </p:spPr>
      </p:pic>
      <p:sp>
        <p:nvSpPr>
          <p:cNvPr id="11" name="Shape 8"/>
          <p:cNvSpPr/>
          <p:nvPr/>
        </p:nvSpPr>
        <p:spPr>
          <a:xfrm>
            <a:off x="5989320" y="1325880"/>
            <a:ext cx="5623560" cy="3514725"/>
          </a:xfrm>
          <a:prstGeom prst="rect">
            <a:avLst/>
          </a:prstGeom>
          <a:ln w="9525">
            <a:solidFill>
              <a:srgbClr val="D9DEE7"/>
            </a:solidFill>
            <a:prstDash val="solid"/>
          </a:ln>
        </p:spPr>
      </p:sp>
      <p:sp>
        <p:nvSpPr>
          <p:cNvPr id="12" name="Text 9"/>
          <p:cNvSpPr txBox="1"/>
          <p:nvPr/>
        </p:nvSpPr>
        <p:spPr>
          <a:xfrm>
            <a:off x="5989320" y="4937760"/>
            <a:ext cx="5623560" cy="365760"/>
          </a:xfrm>
          <a:prstGeom prst="rect">
            <a:avLst/>
          </a:prstGeom>
          <a:noFill/>
          <a:ln/>
        </p:spPr>
        <p:txBody>
          <a:bodyPr wrap="square" lIns="0" tIns="0" rIns="0" bIns="0" rtlCol="0" anchor="ctr"/>
          <a:lstStyle/>
          <a:p>
            <a:pPr indent="0" marL="0">
              <a:buNone/>
            </a:pPr>
            <a:r>
              <a:rPr lang="en-US" sz="1300" i="1" dirty="0">
                <a:solidFill>
                  <a:schemeClr val="accent6"/>
                </a:solidFill>
              </a:rPr>
              <a:t>Ejemplo: 13–17 de diciembre cobra noches en media y en alta</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Ciclo de vida de una reserva</a:t>
            </a:r>
            <a:endParaRPr lang="en-US" sz="3200" dirty="0"/>
          </a:p>
        </p:txBody>
      </p:sp>
      <p:sp>
        <p:nvSpPr>
          <p:cNvPr id="3" name="Shape 1"/>
          <p:cNvSpPr/>
          <p:nvPr/>
        </p:nvSpPr>
        <p:spPr>
          <a:xfrm>
            <a:off x="548640" y="1645920"/>
            <a:ext cx="2377440" cy="1097280"/>
          </a:xfrm>
          <a:prstGeom prst="roundRect">
            <a:avLst>
              <a:gd name="adj" fmla="val 8333"/>
            </a:avLst>
          </a:prstGeom>
          <a:solidFill>
            <a:schemeClr val="bg2"/>
          </a:solidFill>
          <a:ln w="12700">
            <a:solidFill>
              <a:srgbClr val="D9DEE7"/>
            </a:solidFill>
            <a:prstDash val="dash"/>
          </a:ln>
        </p:spPr>
      </p:sp>
      <p:sp>
        <p:nvSpPr>
          <p:cNvPr id="4" name="Text 2"/>
          <p:cNvSpPr txBox="1"/>
          <p:nvPr/>
        </p:nvSpPr>
        <p:spPr>
          <a:xfrm>
            <a:off x="548640" y="1645920"/>
            <a:ext cx="2377440" cy="1097280"/>
          </a:xfrm>
          <a:prstGeom prst="rect">
            <a:avLst/>
          </a:prstGeom>
          <a:noFill/>
          <a:ln/>
        </p:spPr>
        <p:txBody>
          <a:bodyPr wrap="square" lIns="0" tIns="0" rIns="0" bIns="0" rtlCol="0" anchor="ctr"/>
          <a:lstStyle/>
          <a:p>
            <a:pPr algn="ctr" indent="0" marL="0">
              <a:buNone/>
            </a:pPr>
            <a:r>
              <a:rPr lang="en-US" sz="1800" b="1" dirty="0">
                <a:solidFill>
                  <a:schemeClr val="tx1"/>
                </a:solidFill>
              </a:rPr>
              <a:t>pendiente</a:t>
            </a:r>
            <a:endParaRPr lang="en-US" sz="1800" dirty="0"/>
          </a:p>
          <a:p>
            <a:pPr algn="ctr" indent="0" marL="0">
              <a:buNone/>
            </a:pPr>
            <a:r>
              <a:rPr lang="en-US" sz="1200" dirty="0">
                <a:solidFill>
                  <a:schemeClr val="tx1"/>
                </a:solidFill>
              </a:rPr>
              <a:t>reserva web (fase 2)</a:t>
            </a:r>
            <a:endParaRPr lang="en-US" sz="1800" dirty="0"/>
          </a:p>
        </p:txBody>
      </p:sp>
      <p:sp>
        <p:nvSpPr>
          <p:cNvPr id="5" name="Shape 3"/>
          <p:cNvSpPr/>
          <p:nvPr/>
        </p:nvSpPr>
        <p:spPr>
          <a:xfrm>
            <a:off x="2971800" y="2194560"/>
            <a:ext cx="457200" cy="0"/>
          </a:xfrm>
          <a:prstGeom prst="line">
            <a:avLst/>
          </a:prstGeom>
          <a:noFill/>
          <a:ln w="19050">
            <a:solidFill>
              <a:schemeClr val="accent6"/>
            </a:solidFill>
            <a:prstDash val="solid"/>
            <a:tailEnd type="triangle"/>
          </a:ln>
        </p:spPr>
      </p:sp>
      <p:sp>
        <p:nvSpPr>
          <p:cNvPr id="6" name="Shape 4"/>
          <p:cNvSpPr/>
          <p:nvPr/>
        </p:nvSpPr>
        <p:spPr>
          <a:xfrm>
            <a:off x="3474720" y="1645920"/>
            <a:ext cx="2377440" cy="1097280"/>
          </a:xfrm>
          <a:prstGeom prst="roundRect">
            <a:avLst>
              <a:gd name="adj" fmla="val 8333"/>
            </a:avLst>
          </a:prstGeom>
          <a:solidFill>
            <a:schemeClr val="accent3"/>
          </a:solidFill>
          <a:ln w="12700">
            <a:solidFill>
              <a:schemeClr val="accent3"/>
            </a:solidFill>
            <a:prstDash val="solid"/>
          </a:ln>
        </p:spPr>
      </p:sp>
      <p:sp>
        <p:nvSpPr>
          <p:cNvPr id="7" name="Text 5"/>
          <p:cNvSpPr txBox="1"/>
          <p:nvPr/>
        </p:nvSpPr>
        <p:spPr>
          <a:xfrm>
            <a:off x="3474720" y="1645920"/>
            <a:ext cx="2377440" cy="1097280"/>
          </a:xfrm>
          <a:prstGeom prst="rect">
            <a:avLst/>
          </a:prstGeom>
          <a:noFill/>
          <a:ln/>
        </p:spPr>
        <p:txBody>
          <a:bodyPr wrap="square" lIns="0" tIns="0" rIns="0" bIns="0" rtlCol="0" anchor="ctr"/>
          <a:lstStyle/>
          <a:p>
            <a:pPr algn="ctr" indent="0" marL="0">
              <a:buNone/>
            </a:pPr>
            <a:r>
              <a:rPr lang="en-US" sz="1800" b="1" dirty="0">
                <a:solidFill>
                  <a:schemeClr val="bg1"/>
                </a:solidFill>
              </a:rPr>
              <a:t>confirmada</a:t>
            </a:r>
            <a:endParaRPr lang="en-US" sz="1800" dirty="0"/>
          </a:p>
          <a:p>
            <a:pPr algn="ctr" indent="0" marL="0">
              <a:buNone/>
            </a:pPr>
            <a:r>
              <a:rPr lang="en-US" sz="1200" dirty="0">
                <a:solidFill>
                  <a:schemeClr val="bg1"/>
                </a:solidFill>
              </a:rPr>
              <a:t>precio congelado</a:t>
            </a:r>
            <a:endParaRPr lang="en-US" sz="1800" dirty="0"/>
          </a:p>
        </p:txBody>
      </p:sp>
      <p:sp>
        <p:nvSpPr>
          <p:cNvPr id="8" name="Shape 6"/>
          <p:cNvSpPr/>
          <p:nvPr/>
        </p:nvSpPr>
        <p:spPr>
          <a:xfrm>
            <a:off x="5897880" y="2194560"/>
            <a:ext cx="457200" cy="0"/>
          </a:xfrm>
          <a:prstGeom prst="line">
            <a:avLst/>
          </a:prstGeom>
          <a:noFill/>
          <a:ln w="19050">
            <a:solidFill>
              <a:schemeClr val="accent6"/>
            </a:solidFill>
            <a:prstDash val="solid"/>
            <a:tailEnd type="triangle"/>
          </a:ln>
        </p:spPr>
      </p:sp>
      <p:sp>
        <p:nvSpPr>
          <p:cNvPr id="9" name="Shape 7"/>
          <p:cNvSpPr/>
          <p:nvPr/>
        </p:nvSpPr>
        <p:spPr>
          <a:xfrm>
            <a:off x="6400800" y="1645920"/>
            <a:ext cx="2377440" cy="1097280"/>
          </a:xfrm>
          <a:prstGeom prst="roundRect">
            <a:avLst>
              <a:gd name="adj" fmla="val 8333"/>
            </a:avLst>
          </a:prstGeom>
          <a:solidFill>
            <a:schemeClr val="tx2"/>
          </a:solidFill>
          <a:ln w="12700">
            <a:solidFill>
              <a:schemeClr val="tx2"/>
            </a:solidFill>
            <a:prstDash val="solid"/>
          </a:ln>
        </p:spPr>
      </p:sp>
      <p:sp>
        <p:nvSpPr>
          <p:cNvPr id="10" name="Text 8"/>
          <p:cNvSpPr txBox="1"/>
          <p:nvPr/>
        </p:nvSpPr>
        <p:spPr>
          <a:xfrm>
            <a:off x="6400800" y="1645920"/>
            <a:ext cx="2377440" cy="1097280"/>
          </a:xfrm>
          <a:prstGeom prst="rect">
            <a:avLst/>
          </a:prstGeom>
          <a:noFill/>
          <a:ln/>
        </p:spPr>
        <p:txBody>
          <a:bodyPr wrap="square" lIns="0" tIns="0" rIns="0" bIns="0" rtlCol="0" anchor="ctr"/>
          <a:lstStyle/>
          <a:p>
            <a:pPr algn="ctr" indent="0" marL="0">
              <a:buNone/>
            </a:pPr>
            <a:r>
              <a:rPr lang="en-US" sz="1800" b="1" dirty="0">
                <a:solidFill>
                  <a:schemeClr val="bg1"/>
                </a:solidFill>
              </a:rPr>
              <a:t>activa</a:t>
            </a:r>
            <a:endParaRPr lang="en-US" sz="1800" dirty="0"/>
          </a:p>
          <a:p>
            <a:pPr algn="ctr" indent="0" marL="0">
              <a:buNone/>
            </a:pPr>
            <a:r>
              <a:rPr lang="en-US" sz="1200" dirty="0">
                <a:solidFill>
                  <a:schemeClr val="bg1"/>
                </a:solidFill>
              </a:rPr>
              <a:t>check-in · folio abierto</a:t>
            </a:r>
            <a:endParaRPr lang="en-US" sz="1800" dirty="0"/>
          </a:p>
        </p:txBody>
      </p:sp>
      <p:sp>
        <p:nvSpPr>
          <p:cNvPr id="11" name="Shape 9"/>
          <p:cNvSpPr/>
          <p:nvPr/>
        </p:nvSpPr>
        <p:spPr>
          <a:xfrm>
            <a:off x="8823960" y="2194560"/>
            <a:ext cx="457200" cy="0"/>
          </a:xfrm>
          <a:prstGeom prst="line">
            <a:avLst/>
          </a:prstGeom>
          <a:noFill/>
          <a:ln w="19050">
            <a:solidFill>
              <a:schemeClr val="accent6"/>
            </a:solidFill>
            <a:prstDash val="solid"/>
            <a:tailEnd type="triangle"/>
          </a:ln>
        </p:spPr>
      </p:sp>
      <p:sp>
        <p:nvSpPr>
          <p:cNvPr id="12" name="Shape 10"/>
          <p:cNvSpPr/>
          <p:nvPr/>
        </p:nvSpPr>
        <p:spPr>
          <a:xfrm>
            <a:off x="9326880" y="1645920"/>
            <a:ext cx="2377440" cy="1097280"/>
          </a:xfrm>
          <a:prstGeom prst="roundRect">
            <a:avLst>
              <a:gd name="adj" fmla="val 8333"/>
            </a:avLst>
          </a:prstGeom>
          <a:solidFill>
            <a:schemeClr val="accent4"/>
          </a:solidFill>
          <a:ln w="12700">
            <a:solidFill>
              <a:schemeClr val="accent4"/>
            </a:solidFill>
            <a:prstDash val="solid"/>
          </a:ln>
        </p:spPr>
      </p:sp>
      <p:sp>
        <p:nvSpPr>
          <p:cNvPr id="13" name="Text 11"/>
          <p:cNvSpPr txBox="1"/>
          <p:nvPr/>
        </p:nvSpPr>
        <p:spPr>
          <a:xfrm>
            <a:off x="9326880" y="1645920"/>
            <a:ext cx="2377440" cy="1097280"/>
          </a:xfrm>
          <a:prstGeom prst="rect">
            <a:avLst/>
          </a:prstGeom>
          <a:noFill/>
          <a:ln/>
        </p:spPr>
        <p:txBody>
          <a:bodyPr wrap="square" lIns="0" tIns="0" rIns="0" bIns="0" rtlCol="0" anchor="ctr"/>
          <a:lstStyle/>
          <a:p>
            <a:pPr algn="ctr" indent="0" marL="0">
              <a:buNone/>
            </a:pPr>
            <a:r>
              <a:rPr lang="en-US" sz="1800" b="1" dirty="0">
                <a:solidFill>
                  <a:schemeClr val="bg1"/>
                </a:solidFill>
              </a:rPr>
              <a:t>cerrada</a:t>
            </a:r>
            <a:endParaRPr lang="en-US" sz="1800" dirty="0"/>
          </a:p>
          <a:p>
            <a:pPr algn="ctr" indent="0" marL="0">
              <a:buNone/>
            </a:pPr>
            <a:r>
              <a:rPr lang="en-US" sz="1200" dirty="0">
                <a:solidFill>
                  <a:schemeClr val="bg1"/>
                </a:solidFill>
              </a:rPr>
              <a:t>check-out · folio liquidado</a:t>
            </a:r>
            <a:endParaRPr lang="en-US" sz="1800" dirty="0"/>
          </a:p>
        </p:txBody>
      </p:sp>
      <p:sp>
        <p:nvSpPr>
          <p:cNvPr id="14" name="Shape 12"/>
          <p:cNvSpPr/>
          <p:nvPr/>
        </p:nvSpPr>
        <p:spPr>
          <a:xfrm flipH="1">
            <a:off x="3474720" y="2788920"/>
            <a:ext cx="548640" cy="548640"/>
          </a:xfrm>
          <a:prstGeom prst="line">
            <a:avLst/>
          </a:prstGeom>
          <a:noFill/>
          <a:ln w="19050">
            <a:solidFill>
              <a:schemeClr val="accent5"/>
            </a:solidFill>
            <a:prstDash val="solid"/>
            <a:tailEnd type="triangle"/>
          </a:ln>
        </p:spPr>
      </p:sp>
      <p:sp>
        <p:nvSpPr>
          <p:cNvPr id="15" name="Shape 13"/>
          <p:cNvSpPr/>
          <p:nvPr/>
        </p:nvSpPr>
        <p:spPr>
          <a:xfrm>
            <a:off x="2194560" y="3383280"/>
            <a:ext cx="2377440" cy="640080"/>
          </a:xfrm>
          <a:prstGeom prst="roundRect">
            <a:avLst>
              <a:gd name="adj" fmla="val 14286"/>
            </a:avLst>
          </a:prstGeom>
          <a:solidFill>
            <a:srgbClr val="FBE9E7"/>
          </a:solidFill>
          <a:ln w="12700">
            <a:solidFill>
              <a:srgbClr val="FBE9E7"/>
            </a:solidFill>
            <a:prstDash val="solid"/>
          </a:ln>
        </p:spPr>
      </p:sp>
      <p:sp>
        <p:nvSpPr>
          <p:cNvPr id="16" name="Text 14"/>
          <p:cNvSpPr txBox="1"/>
          <p:nvPr/>
        </p:nvSpPr>
        <p:spPr>
          <a:xfrm>
            <a:off x="2194560" y="3383280"/>
            <a:ext cx="2377440" cy="640080"/>
          </a:xfrm>
          <a:prstGeom prst="rect">
            <a:avLst/>
          </a:prstGeom>
          <a:noFill/>
          <a:ln/>
        </p:spPr>
        <p:txBody>
          <a:bodyPr wrap="square" lIns="0" tIns="0" rIns="0" bIns="0" rtlCol="0" anchor="ctr"/>
          <a:lstStyle/>
          <a:p>
            <a:pPr algn="ctr" indent="0" marL="0">
              <a:buNone/>
            </a:pPr>
            <a:r>
              <a:rPr lang="en-US" sz="1600" b="1" dirty="0">
                <a:solidFill>
                  <a:schemeClr val="accent5"/>
                </a:solidFill>
              </a:rPr>
              <a:t>cancelada</a:t>
            </a:r>
            <a:endParaRPr lang="en-US" sz="1600" dirty="0"/>
          </a:p>
        </p:txBody>
      </p:sp>
      <p:sp>
        <p:nvSpPr>
          <p:cNvPr id="17" name="Shape 15"/>
          <p:cNvSpPr/>
          <p:nvPr/>
        </p:nvSpPr>
        <p:spPr>
          <a:xfrm>
            <a:off x="5120640" y="2788920"/>
            <a:ext cx="548640" cy="548640"/>
          </a:xfrm>
          <a:prstGeom prst="line">
            <a:avLst/>
          </a:prstGeom>
          <a:noFill/>
          <a:ln w="19050">
            <a:solidFill>
              <a:schemeClr val="accent5"/>
            </a:solidFill>
            <a:prstDash val="solid"/>
            <a:tailEnd type="triangle"/>
          </a:ln>
        </p:spPr>
      </p:sp>
      <p:sp>
        <p:nvSpPr>
          <p:cNvPr id="18" name="Shape 16"/>
          <p:cNvSpPr/>
          <p:nvPr/>
        </p:nvSpPr>
        <p:spPr>
          <a:xfrm>
            <a:off x="4937760" y="3383280"/>
            <a:ext cx="2377440" cy="640080"/>
          </a:xfrm>
          <a:prstGeom prst="roundRect">
            <a:avLst>
              <a:gd name="adj" fmla="val 14286"/>
            </a:avLst>
          </a:prstGeom>
          <a:solidFill>
            <a:srgbClr val="FBE9E7"/>
          </a:solidFill>
          <a:ln w="12700">
            <a:solidFill>
              <a:srgbClr val="FBE9E7"/>
            </a:solidFill>
            <a:prstDash val="solid"/>
          </a:ln>
        </p:spPr>
      </p:sp>
      <p:sp>
        <p:nvSpPr>
          <p:cNvPr id="19" name="Text 17"/>
          <p:cNvSpPr txBox="1"/>
          <p:nvPr/>
        </p:nvSpPr>
        <p:spPr>
          <a:xfrm>
            <a:off x="4937760" y="3383280"/>
            <a:ext cx="2377440" cy="640080"/>
          </a:xfrm>
          <a:prstGeom prst="rect">
            <a:avLst/>
          </a:prstGeom>
          <a:noFill/>
          <a:ln/>
        </p:spPr>
        <p:txBody>
          <a:bodyPr wrap="square" lIns="0" tIns="0" rIns="0" bIns="0" rtlCol="0" anchor="ctr"/>
          <a:lstStyle/>
          <a:p>
            <a:pPr algn="ctr" indent="0" marL="0">
              <a:buNone/>
            </a:pPr>
            <a:r>
              <a:rPr lang="en-US" sz="1600" b="1" dirty="0">
                <a:solidFill>
                  <a:schemeClr val="accent5"/>
                </a:solidFill>
              </a:rPr>
              <a:t>no_show</a:t>
            </a:r>
            <a:endParaRPr lang="en-US" sz="1600" dirty="0"/>
          </a:p>
        </p:txBody>
      </p:sp>
      <p:sp>
        <p:nvSpPr>
          <p:cNvPr id="20" name="Shape 18"/>
          <p:cNvSpPr/>
          <p:nvPr/>
        </p:nvSpPr>
        <p:spPr>
          <a:xfrm>
            <a:off x="548640" y="4343400"/>
            <a:ext cx="3474720" cy="1783080"/>
          </a:xfrm>
          <a:prstGeom prst="roundRect">
            <a:avLst>
              <a:gd name="adj" fmla="val 6154"/>
            </a:avLst>
          </a:prstGeom>
          <a:solidFill>
            <a:schemeClr val="bg2"/>
          </a:solidFill>
          <a:ln w="12700">
            <a:solidFill>
              <a:schemeClr val="bg2"/>
            </a:solidFill>
            <a:prstDash val="solid"/>
          </a:ln>
        </p:spPr>
      </p:sp>
      <p:sp>
        <p:nvSpPr>
          <p:cNvPr id="21" name="Text 19"/>
          <p:cNvSpPr txBox="1"/>
          <p:nvPr/>
        </p:nvSpPr>
        <p:spPr>
          <a:xfrm>
            <a:off x="777240" y="4480560"/>
            <a:ext cx="3017520" cy="365760"/>
          </a:xfrm>
          <a:prstGeom prst="rect">
            <a:avLst/>
          </a:prstGeom>
          <a:noFill/>
          <a:ln/>
        </p:spPr>
        <p:txBody>
          <a:bodyPr wrap="square" lIns="0" tIns="0" rIns="0" bIns="0" rtlCol="0" anchor="ctr"/>
          <a:lstStyle/>
          <a:p>
            <a:pPr indent="0" marL="0">
              <a:buNone/>
            </a:pPr>
            <a:r>
              <a:rPr lang="en-US" sz="1500" b="1" dirty="0">
                <a:solidFill>
                  <a:schemeClr val="tx2"/>
                </a:solidFill>
              </a:rPr>
              <a:t>Cancelación (R8, R9)</a:t>
            </a:r>
            <a:endParaRPr lang="en-US" sz="1500" dirty="0"/>
          </a:p>
        </p:txBody>
      </p:sp>
      <p:sp>
        <p:nvSpPr>
          <p:cNvPr id="22" name="Text 20"/>
          <p:cNvSpPr txBox="1"/>
          <p:nvPr/>
        </p:nvSpPr>
        <p:spPr>
          <a:xfrm>
            <a:off x="777240" y="4846320"/>
            <a:ext cx="3017520" cy="1188720"/>
          </a:xfrm>
          <a:prstGeom prst="rect">
            <a:avLst/>
          </a:prstGeom>
          <a:noFill/>
          <a:ln/>
        </p:spPr>
        <p:txBody>
          <a:bodyPr wrap="square" lIns="0" tIns="0" rIns="0" bIns="0" rtlCol="0" anchor="t"/>
          <a:lstStyle/>
          <a:p>
            <a:pPr indent="0" marL="0">
              <a:buNone/>
            </a:pPr>
            <a:r>
              <a:rPr lang="en-US" sz="1300" dirty="0">
                <a:solidFill>
                  <a:schemeClr val="tx1"/>
                </a:solidFill>
              </a:rPr>
              <a:t>Solo desde confirmada. Gratis hasta 48 h antes de las 15:00 del día de entrada; después, 1 noche de penalidad.</a:t>
            </a:r>
            <a:endParaRPr lang="en-US" sz="1300" dirty="0"/>
          </a:p>
        </p:txBody>
      </p:sp>
      <p:sp>
        <p:nvSpPr>
          <p:cNvPr id="23" name="Shape 21"/>
          <p:cNvSpPr/>
          <p:nvPr/>
        </p:nvSpPr>
        <p:spPr>
          <a:xfrm>
            <a:off x="4297680" y="4343400"/>
            <a:ext cx="3474720" cy="1783080"/>
          </a:xfrm>
          <a:prstGeom prst="roundRect">
            <a:avLst>
              <a:gd name="adj" fmla="val 6154"/>
            </a:avLst>
          </a:prstGeom>
          <a:solidFill>
            <a:schemeClr val="bg2"/>
          </a:solidFill>
          <a:ln w="12700">
            <a:solidFill>
              <a:schemeClr val="bg2"/>
            </a:solidFill>
            <a:prstDash val="solid"/>
          </a:ln>
        </p:spPr>
      </p:sp>
      <p:sp>
        <p:nvSpPr>
          <p:cNvPr id="24" name="Text 22"/>
          <p:cNvSpPr txBox="1"/>
          <p:nvPr/>
        </p:nvSpPr>
        <p:spPr>
          <a:xfrm>
            <a:off x="4526280" y="4480560"/>
            <a:ext cx="3017520" cy="365760"/>
          </a:xfrm>
          <a:prstGeom prst="rect">
            <a:avLst/>
          </a:prstGeom>
          <a:noFill/>
          <a:ln/>
        </p:spPr>
        <p:txBody>
          <a:bodyPr wrap="square" lIns="0" tIns="0" rIns="0" bIns="0" rtlCol="0" anchor="ctr"/>
          <a:lstStyle/>
          <a:p>
            <a:pPr indent="0" marL="0">
              <a:buNone/>
            </a:pPr>
            <a:r>
              <a:rPr lang="en-US" sz="1500" b="1" dirty="0">
                <a:solidFill>
                  <a:schemeClr val="tx2"/>
                </a:solidFill>
              </a:rPr>
              <a:t>No-show (R10, R11)</a:t>
            </a:r>
            <a:endParaRPr lang="en-US" sz="1500" dirty="0"/>
          </a:p>
        </p:txBody>
      </p:sp>
      <p:sp>
        <p:nvSpPr>
          <p:cNvPr id="25" name="Text 23"/>
          <p:cNvSpPr txBox="1"/>
          <p:nvPr/>
        </p:nvSpPr>
        <p:spPr>
          <a:xfrm>
            <a:off x="4526280" y="4846320"/>
            <a:ext cx="3017520" cy="1188720"/>
          </a:xfrm>
          <a:prstGeom prst="rect">
            <a:avLst/>
          </a:prstGeom>
          <a:noFill/>
          <a:ln/>
        </p:spPr>
        <p:txBody>
          <a:bodyPr wrap="square" lIns="0" tIns="0" rIns="0" bIns="0" rtlCol="0" anchor="t"/>
          <a:lstStyle/>
          <a:p>
            <a:pPr indent="0" marL="0">
              <a:buNone/>
            </a:pPr>
            <a:r>
              <a:rPr lang="en-US" sz="1300" dirty="0">
                <a:solidFill>
                  <a:schemeClr val="tx1"/>
                </a:solidFill>
              </a:rPr>
              <a:t>Tarea cada 10 min: sin check-in al mediodía del día siguiente, cobra 1 noche y libera el resto.</a:t>
            </a:r>
            <a:endParaRPr lang="en-US" sz="1300" dirty="0"/>
          </a:p>
        </p:txBody>
      </p:sp>
      <p:sp>
        <p:nvSpPr>
          <p:cNvPr id="26" name="Shape 24"/>
          <p:cNvSpPr/>
          <p:nvPr/>
        </p:nvSpPr>
        <p:spPr>
          <a:xfrm>
            <a:off x="8046720" y="4343400"/>
            <a:ext cx="3474720" cy="1783080"/>
          </a:xfrm>
          <a:prstGeom prst="roundRect">
            <a:avLst>
              <a:gd name="adj" fmla="val 6154"/>
            </a:avLst>
          </a:prstGeom>
          <a:solidFill>
            <a:schemeClr val="bg2"/>
          </a:solidFill>
          <a:ln w="12700">
            <a:solidFill>
              <a:schemeClr val="bg2"/>
            </a:solidFill>
            <a:prstDash val="solid"/>
          </a:ln>
        </p:spPr>
      </p:sp>
      <p:sp>
        <p:nvSpPr>
          <p:cNvPr id="27" name="Text 25"/>
          <p:cNvSpPr txBox="1"/>
          <p:nvPr/>
        </p:nvSpPr>
        <p:spPr>
          <a:xfrm>
            <a:off x="8275320" y="4480560"/>
            <a:ext cx="3017520" cy="365760"/>
          </a:xfrm>
          <a:prstGeom prst="rect">
            <a:avLst/>
          </a:prstGeom>
          <a:noFill/>
          <a:ln/>
        </p:spPr>
        <p:txBody>
          <a:bodyPr wrap="square" lIns="0" tIns="0" rIns="0" bIns="0" rtlCol="0" anchor="ctr"/>
          <a:lstStyle/>
          <a:p>
            <a:pPr indent="0" marL="0">
              <a:buNone/>
            </a:pPr>
            <a:r>
              <a:rPr lang="en-US" sz="1500" b="1" dirty="0">
                <a:solidFill>
                  <a:schemeClr val="tx2"/>
                </a:solidFill>
              </a:rPr>
              <a:t>Salida anticipada (R24)</a:t>
            </a:r>
            <a:endParaRPr lang="en-US" sz="1500" dirty="0"/>
          </a:p>
        </p:txBody>
      </p:sp>
      <p:sp>
        <p:nvSpPr>
          <p:cNvPr id="28" name="Text 26"/>
          <p:cNvSpPr txBox="1"/>
          <p:nvPr/>
        </p:nvSpPr>
        <p:spPr>
          <a:xfrm>
            <a:off x="8275320" y="4846320"/>
            <a:ext cx="3017520" cy="1188720"/>
          </a:xfrm>
          <a:prstGeom prst="rect">
            <a:avLst/>
          </a:prstGeom>
          <a:noFill/>
          <a:ln/>
        </p:spPr>
        <p:txBody>
          <a:bodyPr wrap="square" lIns="0" tIns="0" rIns="0" bIns="0" rtlCol="0" anchor="t"/>
          <a:lstStyle/>
          <a:p>
            <a:pPr indent="0" marL="0">
              <a:buNone/>
            </a:pPr>
            <a:r>
              <a:rPr lang="en-US" sz="1300" dirty="0">
                <a:solidFill>
                  <a:schemeClr val="tx1"/>
                </a:solidFill>
              </a:rPr>
              <a:t>Se cobran solo las noches usadas, del desglose pactado; las restantes quedan libres para vender.</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Folio y check-out: el total siempre cuadra</a:t>
            </a:r>
            <a:endParaRPr lang="en-US" sz="3200" dirty="0"/>
          </a:p>
        </p:txBody>
      </p:sp>
      <p:sp>
        <p:nvSpPr>
          <p:cNvPr id="3" name="Shape 1"/>
          <p:cNvSpPr/>
          <p:nvPr/>
        </p:nvSpPr>
        <p:spPr>
          <a:xfrm>
            <a:off x="548640" y="1371600"/>
            <a:ext cx="685800" cy="685800"/>
          </a:xfrm>
          <a:prstGeom prst="ellipse">
            <a:avLst/>
          </a:prstGeom>
          <a:solidFill>
            <a:schemeClr val="tx2"/>
          </a:solidFill>
          <a:ln w="12700">
            <a:solidFill>
              <a:schemeClr val="tx2"/>
            </a:solidFill>
            <a:prstDash val="solid"/>
          </a:ln>
        </p:spPr>
      </p:sp>
      <p:pic>
        <p:nvPicPr>
          <p:cNvPr id="4" name="Image 0" descr="preencoded.png">    </p:cNvPr>
          <p:cNvPicPr>
            <a:picLocks noChangeAspect="1"/>
          </p:cNvPicPr>
          <p:nvPr/>
        </p:nvPicPr>
        <p:blipFill>
          <a:blip r:embed="rId1"/>
          <a:stretch>
            <a:fillRect/>
          </a:stretch>
        </p:blipFill>
        <p:spPr>
          <a:xfrm>
            <a:off x="699516" y="1522476"/>
            <a:ext cx="384048" cy="384048"/>
          </a:xfrm>
          <a:prstGeom prst="rect">
            <a:avLst/>
          </a:prstGeom>
        </p:spPr>
      </p:pic>
      <p:sp>
        <p:nvSpPr>
          <p:cNvPr id="5" name="Text 2"/>
          <p:cNvSpPr txBox="1"/>
          <p:nvPr/>
        </p:nvSpPr>
        <p:spPr>
          <a:xfrm>
            <a:off x="548640" y="2194560"/>
            <a:ext cx="2377440"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Check-in</a:t>
            </a:r>
            <a:endParaRPr lang="en-US" sz="1900" dirty="0"/>
          </a:p>
        </p:txBody>
      </p:sp>
      <p:sp>
        <p:nvSpPr>
          <p:cNvPr id="6" name="Text 3"/>
          <p:cNvSpPr txBox="1"/>
          <p:nvPr/>
        </p:nvSpPr>
        <p:spPr>
          <a:xfrm>
            <a:off x="548640" y="2651760"/>
            <a:ext cx="2331720" cy="1463040"/>
          </a:xfrm>
          <a:prstGeom prst="rect">
            <a:avLst/>
          </a:prstGeom>
          <a:noFill/>
          <a:ln/>
        </p:spPr>
        <p:txBody>
          <a:bodyPr wrap="square" lIns="0" tIns="0" rIns="0" bIns="0" rtlCol="0" anchor="t"/>
          <a:lstStyle/>
          <a:p>
            <a:pPr indent="0" marL="0">
              <a:buNone/>
            </a:pPr>
            <a:r>
              <a:rPr lang="en-US" sz="1400" dirty="0">
                <a:solidFill>
                  <a:schemeClr val="tx1"/>
                </a:solidFill>
              </a:rPr>
              <a:t>Exige la habitación lista y el registro hotelero: nacionalidad, procedencia y motivo del viaje.</a:t>
            </a:r>
            <a:endParaRPr lang="en-US" sz="1400" dirty="0"/>
          </a:p>
        </p:txBody>
      </p:sp>
      <p:sp>
        <p:nvSpPr>
          <p:cNvPr id="7" name="Shape 4"/>
          <p:cNvSpPr/>
          <p:nvPr/>
        </p:nvSpPr>
        <p:spPr>
          <a:xfrm>
            <a:off x="3154680" y="1371600"/>
            <a:ext cx="685800" cy="685800"/>
          </a:xfrm>
          <a:prstGeom prst="ellipse">
            <a:avLst/>
          </a:prstGeom>
          <a:solidFill>
            <a:schemeClr val="tx2"/>
          </a:solidFill>
          <a:ln w="12700">
            <a:solidFill>
              <a:schemeClr val="tx2"/>
            </a:solidFill>
            <a:prstDash val="solid"/>
          </a:ln>
        </p:spPr>
      </p:sp>
      <p:pic>
        <p:nvPicPr>
          <p:cNvPr id="8" name="Image 1" descr="preencoded.png">    </p:cNvPr>
          <p:cNvPicPr>
            <a:picLocks noChangeAspect="1"/>
          </p:cNvPicPr>
          <p:nvPr/>
        </p:nvPicPr>
        <p:blipFill>
          <a:blip r:embed="rId2"/>
          <a:stretch>
            <a:fillRect/>
          </a:stretch>
        </p:blipFill>
        <p:spPr>
          <a:xfrm>
            <a:off x="3305556" y="1522476"/>
            <a:ext cx="384048" cy="384048"/>
          </a:xfrm>
          <a:prstGeom prst="rect">
            <a:avLst/>
          </a:prstGeom>
        </p:spPr>
      </p:pic>
      <p:sp>
        <p:nvSpPr>
          <p:cNvPr id="9" name="Text 5"/>
          <p:cNvSpPr txBox="1"/>
          <p:nvPr/>
        </p:nvSpPr>
        <p:spPr>
          <a:xfrm>
            <a:off x="3154680" y="2194560"/>
            <a:ext cx="2377440"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Consumos</a:t>
            </a:r>
            <a:endParaRPr lang="en-US" sz="1900" dirty="0"/>
          </a:p>
        </p:txBody>
      </p:sp>
      <p:sp>
        <p:nvSpPr>
          <p:cNvPr id="10" name="Text 6"/>
          <p:cNvSpPr txBox="1"/>
          <p:nvPr/>
        </p:nvSpPr>
        <p:spPr>
          <a:xfrm>
            <a:off x="3154680" y="2651760"/>
            <a:ext cx="2331720" cy="1463040"/>
          </a:xfrm>
          <a:prstGeom prst="rect">
            <a:avLst/>
          </a:prstGeom>
          <a:noFill/>
          <a:ln/>
        </p:spPr>
        <p:txBody>
          <a:bodyPr wrap="square" lIns="0" tIns="0" rIns="0" bIns="0" rtlCol="0" anchor="t"/>
          <a:lstStyle/>
          <a:p>
            <a:pPr indent="0" marL="0">
              <a:buNone/>
            </a:pPr>
            <a:r>
              <a:rPr lang="en-US" sz="1400" dirty="0">
                <a:solidFill>
                  <a:schemeClr val="tx1"/>
                </a:solidFill>
              </a:rPr>
              <a:t>Minibar, lavandería, restaurante, late check-out. Se anulan con motivo; nunca se borran.</a:t>
            </a:r>
            <a:endParaRPr lang="en-US" sz="1400" dirty="0"/>
          </a:p>
        </p:txBody>
      </p:sp>
      <p:sp>
        <p:nvSpPr>
          <p:cNvPr id="11" name="Shape 7"/>
          <p:cNvSpPr/>
          <p:nvPr/>
        </p:nvSpPr>
        <p:spPr>
          <a:xfrm>
            <a:off x="5760720" y="1371600"/>
            <a:ext cx="685800" cy="685800"/>
          </a:xfrm>
          <a:prstGeom prst="ellipse">
            <a:avLst/>
          </a:prstGeom>
          <a:solidFill>
            <a:schemeClr val="tx2"/>
          </a:solidFill>
          <a:ln w="12700">
            <a:solidFill>
              <a:schemeClr val="tx2"/>
            </a:solidFill>
            <a:prstDash val="solid"/>
          </a:ln>
        </p:spPr>
      </p:sp>
      <p:pic>
        <p:nvPicPr>
          <p:cNvPr id="12" name="Image 2" descr="preencoded.png">    </p:cNvPr>
          <p:cNvPicPr>
            <a:picLocks noChangeAspect="1"/>
          </p:cNvPicPr>
          <p:nvPr/>
        </p:nvPicPr>
        <p:blipFill>
          <a:blip r:embed="rId3"/>
          <a:stretch>
            <a:fillRect/>
          </a:stretch>
        </p:blipFill>
        <p:spPr>
          <a:xfrm>
            <a:off x="5911596" y="1522476"/>
            <a:ext cx="384048" cy="384048"/>
          </a:xfrm>
          <a:prstGeom prst="rect">
            <a:avLst/>
          </a:prstGeom>
        </p:spPr>
      </p:pic>
      <p:sp>
        <p:nvSpPr>
          <p:cNvPr id="13" name="Text 8"/>
          <p:cNvSpPr txBox="1"/>
          <p:nvPr/>
        </p:nvSpPr>
        <p:spPr>
          <a:xfrm>
            <a:off x="5760720" y="2194560"/>
            <a:ext cx="2377440"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Check-out</a:t>
            </a:r>
            <a:endParaRPr lang="en-US" sz="1900" dirty="0"/>
          </a:p>
        </p:txBody>
      </p:sp>
      <p:sp>
        <p:nvSpPr>
          <p:cNvPr id="14" name="Text 9"/>
          <p:cNvSpPr txBox="1"/>
          <p:nvPr/>
        </p:nvSpPr>
        <p:spPr>
          <a:xfrm>
            <a:off x="5760720" y="2651760"/>
            <a:ext cx="2331720" cy="1463040"/>
          </a:xfrm>
          <a:prstGeom prst="rect">
            <a:avLst/>
          </a:prstGeom>
          <a:noFill/>
          <a:ln/>
        </p:spPr>
        <p:txBody>
          <a:bodyPr wrap="square" lIns="0" tIns="0" rIns="0" bIns="0" rtlCol="0" anchor="t"/>
          <a:lstStyle/>
          <a:p>
            <a:pPr indent="0" marL="0">
              <a:buNone/>
            </a:pPr>
            <a:r>
              <a:rPr lang="en-US" sz="1400" dirty="0">
                <a:solidFill>
                  <a:schemeClr val="tx1"/>
                </a:solidFill>
              </a:rPr>
              <a:t>Alojamiento pactado + consumos vigentes = total, con medio de pago. La habitación pasa a limpieza.</a:t>
            </a:r>
            <a:endParaRPr lang="en-US" sz="1400" dirty="0"/>
          </a:p>
        </p:txBody>
      </p:sp>
      <p:sp>
        <p:nvSpPr>
          <p:cNvPr id="15" name="Shape 10"/>
          <p:cNvSpPr/>
          <p:nvPr/>
        </p:nvSpPr>
        <p:spPr>
          <a:xfrm>
            <a:off x="548640" y="4206240"/>
            <a:ext cx="7498080" cy="1920240"/>
          </a:xfrm>
          <a:prstGeom prst="roundRect">
            <a:avLst>
              <a:gd name="adj" fmla="val 5714"/>
            </a:avLst>
          </a:prstGeom>
          <a:solidFill>
            <a:schemeClr val="bg2"/>
          </a:solidFill>
          <a:ln w="12700">
            <a:solidFill>
              <a:schemeClr val="bg2"/>
            </a:solidFill>
            <a:prstDash val="solid"/>
          </a:ln>
        </p:spPr>
      </p:sp>
      <p:sp>
        <p:nvSpPr>
          <p:cNvPr id="16" name="Text 11"/>
          <p:cNvSpPr txBox="1"/>
          <p:nvPr/>
        </p:nvSpPr>
        <p:spPr>
          <a:xfrm>
            <a:off x="822960" y="4206240"/>
            <a:ext cx="7040880" cy="1920240"/>
          </a:xfrm>
          <a:prstGeom prst="rect">
            <a:avLst/>
          </a:prstGeom>
          <a:noFill/>
          <a:ln/>
        </p:spPr>
        <p:txBody>
          <a:bodyPr wrap="square" lIns="0" tIns="0" rIns="0" bIns="0" rtlCol="0" anchor="ctr"/>
          <a:lstStyle/>
          <a:p>
            <a:pPr indent="0" marL="0">
              <a:buNone/>
            </a:pPr>
            <a:r>
              <a:rPr lang="en-US" sz="1600" b="1" dirty="0">
                <a:solidFill>
                  <a:srgbClr val="0F1B2D"/>
                </a:solidFill>
              </a:rPr>
              <a:t>Concurrencia resuelta: </a:t>
            </a:r>
            <a:pPr indent="0" marL="0">
              <a:buNone/>
            </a:pPr>
            <a:r>
              <a:rPr lang="en-US" sz="1600" dirty="0">
                <a:solidFill>
                  <a:schemeClr val="tx1"/>
                </a:solidFill>
              </a:rPr>
              <a:t>cargar un consumo y hacer el check-out a la vez se ordenan con </a:t>
            </a:r>
            <a:pPr indent="0" marL="0">
              <a:buNone/>
            </a:pPr>
            <a:r>
              <a:rPr lang="en-US" sz="1600" b="1" dirty="0">
                <a:solidFill>
                  <a:schemeClr val="tx1"/>
                </a:solidFill>
                <a:latin typeface="Courier New" pitchFamily="34" charset="0"/>
                <a:ea typeface="Courier New" pitchFamily="34" charset="-122"/>
                <a:cs typeface="Courier New" pitchFamily="34" charset="-120"/>
              </a:rPr>
              <a:t>SELECT … FOR UPDATE</a:t>
            </a:r>
            <a:pPr indent="0" marL="0">
              <a:buNone/>
            </a:pPr>
            <a:r>
              <a:rPr lang="en-US" sz="1600" dirty="0">
                <a:solidFill>
                  <a:schemeClr val="tx1"/>
                </a:solidFill>
              </a:rPr>
              <a:t> sobre la fila de la reserva. Un cargo que llega durante el check-out espera y nunca queda fuera de la liquidación; después del cierre se rechaza.</a:t>
            </a:r>
            <a:endParaRPr lang="en-US" sz="1600" dirty="0"/>
          </a:p>
        </p:txBody>
      </p:sp>
      <p:sp>
        <p:nvSpPr>
          <p:cNvPr id="17" name="Shape 12"/>
          <p:cNvSpPr/>
          <p:nvPr/>
        </p:nvSpPr>
        <p:spPr>
          <a:xfrm>
            <a:off x="8412480" y="1371600"/>
            <a:ext cx="3200400" cy="4754880"/>
          </a:xfrm>
          <a:prstGeom prst="roundRect">
            <a:avLst>
              <a:gd name="adj" fmla="val 3429"/>
            </a:avLst>
          </a:prstGeom>
          <a:solidFill>
            <a:schemeClr val="tx2"/>
          </a:solidFill>
          <a:ln w="12700">
            <a:solidFill>
              <a:schemeClr val="tx2"/>
            </a:solidFill>
            <a:prstDash val="solid"/>
          </a:ln>
        </p:spPr>
      </p:sp>
      <p:sp>
        <p:nvSpPr>
          <p:cNvPr id="18" name="Text 13"/>
          <p:cNvSpPr txBox="1"/>
          <p:nvPr/>
        </p:nvSpPr>
        <p:spPr>
          <a:xfrm>
            <a:off x="8595360" y="2011680"/>
            <a:ext cx="2834640" cy="100584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4 de 5</a:t>
            </a:r>
            <a:endParaRPr lang="en-US" sz="5400" dirty="0"/>
          </a:p>
        </p:txBody>
      </p:sp>
      <p:sp>
        <p:nvSpPr>
          <p:cNvPr id="19" name="Text 14"/>
          <p:cNvSpPr txBox="1"/>
          <p:nvPr/>
        </p:nvSpPr>
        <p:spPr>
          <a:xfrm>
            <a:off x="8686800" y="3200400"/>
            <a:ext cx="2651760" cy="1828800"/>
          </a:xfrm>
          <a:prstGeom prst="rect">
            <a:avLst/>
          </a:prstGeom>
          <a:noFill/>
          <a:ln/>
        </p:spPr>
        <p:txBody>
          <a:bodyPr wrap="square" lIns="0" tIns="0" rIns="0" bIns="0" rtlCol="0" anchor="t"/>
          <a:lstStyle/>
          <a:p>
            <a:pPr algn="ctr" indent="0" marL="0">
              <a:buNone/>
            </a:pPr>
            <a:r>
              <a:rPr lang="en-US" sz="1500" dirty="0">
                <a:solidFill>
                  <a:schemeClr val="bg1"/>
                </a:solidFill>
              </a:rPr>
              <a:t>veces fallaba la prueba de cargo + check-out simultáneos sin el bloqueo de fila. Con el bloqueo: 0.</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Seguridad, roles y auditoría</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035040" cy="914400"/>
        </p:xfrm>
        <a:graphic>
          <a:graphicData uri="http://schemas.openxmlformats.org/drawingml/2006/table">
            <a:tbl>
              <a:tblPr/>
              <a:tblGrid>
                <a:gridCol w="3840480"/>
                <a:gridCol w="1097280"/>
                <a:gridCol w="1097280"/>
              </a:tblGrid>
              <a:tr h="502920">
                <a:tc>
                  <a:txBody>
                    <a:bodyPr/>
                    <a:lstStyle/>
                    <a:p>
                      <a:pPr indent="0" marL="0">
                        <a:buNone/>
                      </a:pPr>
                      <a:r>
                        <a:rPr lang="en-US" sz="1300" b="1" dirty="0">
                          <a:solidFill>
                            <a:srgbClr val="FFFFFF"/>
                          </a:solidFill>
                        </a:rPr>
                        <a:t>Permiso</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F1B2D"/>
                    </a:solidFill>
                  </a:tcPr>
                </a:tc>
                <a:tc>
                  <a:txBody>
                    <a:bodyPr/>
                    <a:lstStyle/>
                    <a:p>
                      <a:pPr indent="0" marL="0">
                        <a:buNone/>
                      </a:pPr>
                      <a:r>
                        <a:rPr lang="en-US" sz="1300" b="1" dirty="0">
                          <a:solidFill>
                            <a:srgbClr val="FFFFFF"/>
                          </a:solidFill>
                        </a:rPr>
                        <a:t>Recepción</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F1B2D"/>
                    </a:solidFill>
                  </a:tcPr>
                </a:tc>
                <a:tc>
                  <a:txBody>
                    <a:bodyPr/>
                    <a:lstStyle/>
                    <a:p>
                      <a:pPr indent="0" marL="0">
                        <a:buNone/>
                      </a:pPr>
                      <a:r>
                        <a:rPr lang="en-US" sz="1300" b="1" dirty="0">
                          <a:solidFill>
                            <a:srgbClr val="FFFFFF"/>
                          </a:solidFill>
                        </a:rPr>
                        <a:t>Admin</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0F1B2D"/>
                    </a:solidFill>
                  </a:tcPr>
                </a:tc>
              </a:tr>
              <a:tr h="502920">
                <a:tc>
                  <a:txBody>
                    <a:bodyPr/>
                    <a:lstStyle/>
                    <a:p>
                      <a:pPr algn="l" indent="0" marL="0">
                        <a:buNone/>
                      </a:pPr>
                      <a:r>
                        <a:rPr lang="en-US" sz="1300" dirty="0">
                          <a:solidFill>
                            <a:srgbClr val="1C2433"/>
                          </a:solidFill>
                        </a:rPr>
                        <a:t>Ver habitaciones y disponibilidad</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r h="502920">
                <a:tc>
                  <a:txBody>
                    <a:bodyPr/>
                    <a:lstStyle/>
                    <a:p>
                      <a:pPr algn="l" indent="0" marL="0">
                        <a:buNone/>
                      </a:pPr>
                      <a:r>
                        <a:rPr lang="en-US" sz="1300" dirty="0">
                          <a:solidFill>
                            <a:srgbClr val="1C2433"/>
                          </a:solidFill>
                        </a:rPr>
                        <a:t>Reservas: crear, cancelar, ver</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C2433"/>
                          </a:solidFill>
                        </a:rPr>
                        <a:t>Check-in / check-out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r h="502920">
                <a:tc>
                  <a:txBody>
                    <a:bodyPr/>
                    <a:lstStyle/>
                    <a:p>
                      <a:pPr algn="l" indent="0" marL="0">
                        <a:buNone/>
                      </a:pPr>
                      <a:r>
                        <a:rPr lang="en-US" sz="1300" dirty="0">
                          <a:solidFill>
                            <a:srgbClr val="1C2433"/>
                          </a:solidFill>
                        </a:rPr>
                        <a:t>Cargar y anular consumos</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C2433"/>
                          </a:solidFill>
                        </a:rPr>
                        <a:t>Estados de habitación y no-shows</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r h="502920">
                <a:tc>
                  <a:txBody>
                    <a:bodyPr/>
                    <a:lstStyle/>
                    <a:p>
                      <a:pPr algn="l" indent="0" marL="0">
                        <a:buNone/>
                      </a:pPr>
                      <a:r>
                        <a:rPr lang="en-US" sz="1300" dirty="0">
                          <a:solidFill>
                            <a:srgbClr val="1C2433"/>
                          </a:solidFill>
                        </a:rPr>
                        <a:t>Crear habitaciones y editar tarifas</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C2433"/>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C2433"/>
                          </a:solidFill>
                        </a:rPr>
                        <a:t>Gestionar usuarios</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algn="ctr" indent="0" marL="0">
                        <a:buNone/>
                      </a:pPr>
                      <a:r>
                        <a:rPr lang="en-US" sz="1300" b="1" dirty="0">
                          <a:solidFill>
                            <a:srgbClr val="1C2433"/>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c>
                  <a:txBody>
                    <a:bodyPr/>
                    <a:lstStyle/>
                    <a:p>
                      <a:pPr algn="ctr" indent="0" marL="0">
                        <a:buNone/>
                      </a:pPr>
                      <a:r>
                        <a:rPr lang="en-US" sz="1300" b="1" dirty="0">
                          <a:solidFill>
                            <a:srgbClr val="1E6B3A"/>
                          </a:solidFill>
                        </a:rPr>
                        <a:t>✓</a:t>
                      </a:r>
                      <a:endParaRPr lang="en-US" sz="1300" dirty="0"/>
                    </a:p>
                  </a:txBody>
                  <a:tcPr marL="91440" marR="91440" marT="45720" marB="45720" anchor="ctr">
                    <a:lnL w="6350" cap="flat" cmpd="sng" algn="ctr">
                      <a:solidFill>
                        <a:srgbClr val="D9DEE7"/>
                      </a:solidFill>
                      <a:prstDash val="solid"/>
                      <a:round/>
                      <a:headEnd type="none" w="med" len="med"/>
                      <a:tailEnd type="none" w="med" len="med"/>
                    </a:lnL>
                    <a:lnR w="6350" cap="flat" cmpd="sng" algn="ctr">
                      <a:solidFill>
                        <a:srgbClr val="D9DEE7"/>
                      </a:solidFill>
                      <a:prstDash val="solid"/>
                      <a:round/>
                      <a:headEnd type="none" w="med" len="med"/>
                      <a:tailEnd type="none" w="med" len="med"/>
                    </a:lnR>
                    <a:lnT w="6350" cap="flat" cmpd="sng" algn="ctr">
                      <a:solidFill>
                        <a:srgbClr val="D9DEE7"/>
                      </a:solidFill>
                      <a:prstDash val="solid"/>
                      <a:round/>
                      <a:headEnd type="none" w="med" len="med"/>
                      <a:tailEnd type="none" w="med" len="med"/>
                    </a:lnT>
                    <a:lnB w="6350" cap="flat" cmpd="sng" algn="ctr">
                      <a:solidFill>
                        <a:srgbClr val="D9DEE7"/>
                      </a:solidFill>
                      <a:prstDash val="solid"/>
                      <a:round/>
                      <a:headEnd type="none" w="med" len="med"/>
                      <a:tailEnd type="none" w="med" len="med"/>
                    </a:lnB>
                    <a:solidFill>
                      <a:srgbClr val="F1F4F8"/>
                    </a:solidFill>
                  </a:tcPr>
                </a:tc>
              </a:tr>
            </a:tbl>
          </a:graphicData>
        </a:graphic>
      </p:graphicFrame>
      <p:sp>
        <p:nvSpPr>
          <p:cNvPr id="4" name="Shape 1"/>
          <p:cNvSpPr/>
          <p:nvPr/>
        </p:nvSpPr>
        <p:spPr>
          <a:xfrm>
            <a:off x="7040880" y="1325880"/>
            <a:ext cx="502920" cy="502920"/>
          </a:xfrm>
          <a:prstGeom prst="ellipse">
            <a:avLst/>
          </a:prstGeom>
          <a:solidFill>
            <a:schemeClr val="bg2"/>
          </a:solidFill>
          <a:ln w="12700">
            <a:solidFill>
              <a:schemeClr val="bg2"/>
            </a:solidFill>
            <a:prstDash val="solid"/>
          </a:ln>
        </p:spPr>
      </p:sp>
      <p:pic>
        <p:nvPicPr>
          <p:cNvPr id="5" name="Image 0" descr="preencoded.png">    </p:cNvPr>
          <p:cNvPicPr>
            <a:picLocks noChangeAspect="1"/>
          </p:cNvPicPr>
          <p:nvPr/>
        </p:nvPicPr>
        <p:blipFill>
          <a:blip r:embed="rId1"/>
          <a:stretch>
            <a:fillRect/>
          </a:stretch>
        </p:blipFill>
        <p:spPr>
          <a:xfrm>
            <a:off x="7151522" y="1436522"/>
            <a:ext cx="281635" cy="281635"/>
          </a:xfrm>
          <a:prstGeom prst="rect">
            <a:avLst/>
          </a:prstGeom>
        </p:spPr>
      </p:pic>
      <p:sp>
        <p:nvSpPr>
          <p:cNvPr id="6" name="Text 2"/>
          <p:cNvSpPr txBox="1"/>
          <p:nvPr/>
        </p:nvSpPr>
        <p:spPr>
          <a:xfrm>
            <a:off x="7680960" y="1325880"/>
            <a:ext cx="3931920" cy="502920"/>
          </a:xfrm>
          <a:prstGeom prst="rect">
            <a:avLst/>
          </a:prstGeom>
          <a:noFill/>
          <a:ln/>
        </p:spPr>
        <p:txBody>
          <a:bodyPr wrap="square" lIns="0" tIns="0" rIns="0" bIns="0" rtlCol="0" anchor="ctr"/>
          <a:lstStyle/>
          <a:p>
            <a:pPr indent="0" marL="0">
              <a:buNone/>
            </a:pPr>
            <a:r>
              <a:rPr lang="en-US" sz="1400" dirty="0">
                <a:solidFill>
                  <a:schemeClr val="tx1"/>
                </a:solidFill>
              </a:rPr>
              <a:t>Sesión JWT de 8 h; contraseñas con scrypt</a:t>
            </a:r>
            <a:endParaRPr lang="en-US" sz="1400" dirty="0"/>
          </a:p>
        </p:txBody>
      </p:sp>
      <p:sp>
        <p:nvSpPr>
          <p:cNvPr id="7" name="Shape 3"/>
          <p:cNvSpPr/>
          <p:nvPr/>
        </p:nvSpPr>
        <p:spPr>
          <a:xfrm>
            <a:off x="7040880" y="2075688"/>
            <a:ext cx="502920" cy="502920"/>
          </a:xfrm>
          <a:prstGeom prst="ellipse">
            <a:avLst/>
          </a:prstGeom>
          <a:solidFill>
            <a:schemeClr val="bg2"/>
          </a:solidFill>
          <a:ln w="12700">
            <a:solidFill>
              <a:schemeClr val="bg2"/>
            </a:solidFill>
            <a:prstDash val="solid"/>
          </a:ln>
        </p:spPr>
      </p:sp>
      <p:pic>
        <p:nvPicPr>
          <p:cNvPr id="8" name="Image 1" descr="preencoded.png">    </p:cNvPr>
          <p:cNvPicPr>
            <a:picLocks noChangeAspect="1"/>
          </p:cNvPicPr>
          <p:nvPr/>
        </p:nvPicPr>
        <p:blipFill>
          <a:blip r:embed="rId2"/>
          <a:stretch>
            <a:fillRect/>
          </a:stretch>
        </p:blipFill>
        <p:spPr>
          <a:xfrm>
            <a:off x="7151522" y="2186330"/>
            <a:ext cx="281635" cy="281635"/>
          </a:xfrm>
          <a:prstGeom prst="rect">
            <a:avLst/>
          </a:prstGeom>
        </p:spPr>
      </p:pic>
      <p:sp>
        <p:nvSpPr>
          <p:cNvPr id="9" name="Text 4"/>
          <p:cNvSpPr txBox="1"/>
          <p:nvPr/>
        </p:nvSpPr>
        <p:spPr>
          <a:xfrm>
            <a:off x="7680960" y="2075688"/>
            <a:ext cx="3931920" cy="502920"/>
          </a:xfrm>
          <a:prstGeom prst="rect">
            <a:avLst/>
          </a:prstGeom>
          <a:noFill/>
          <a:ln/>
        </p:spPr>
        <p:txBody>
          <a:bodyPr wrap="square" lIns="0" tIns="0" rIns="0" bIns="0" rtlCol="0" anchor="ctr"/>
          <a:lstStyle/>
          <a:p>
            <a:pPr indent="0" marL="0">
              <a:buNone/>
            </a:pPr>
            <a:r>
              <a:rPr lang="en-US" sz="1400" dirty="0">
                <a:solidFill>
                  <a:schemeClr val="tx1"/>
                </a:solidFill>
              </a:rPr>
              <a:t>Guardia global: todo exige sesión salvo el login</a:t>
            </a:r>
            <a:endParaRPr lang="en-US" sz="1400" dirty="0"/>
          </a:p>
        </p:txBody>
      </p:sp>
      <p:sp>
        <p:nvSpPr>
          <p:cNvPr id="10" name="Shape 5"/>
          <p:cNvSpPr/>
          <p:nvPr/>
        </p:nvSpPr>
        <p:spPr>
          <a:xfrm>
            <a:off x="7040880" y="2825496"/>
            <a:ext cx="502920" cy="502920"/>
          </a:xfrm>
          <a:prstGeom prst="ellipse">
            <a:avLst/>
          </a:prstGeom>
          <a:solidFill>
            <a:schemeClr val="bg2"/>
          </a:solidFill>
          <a:ln w="12700">
            <a:solidFill>
              <a:schemeClr val="bg2"/>
            </a:solidFill>
            <a:prstDash val="solid"/>
          </a:ln>
        </p:spPr>
      </p:sp>
      <p:pic>
        <p:nvPicPr>
          <p:cNvPr id="11" name="Image 2" descr="preencoded.png">    </p:cNvPr>
          <p:cNvPicPr>
            <a:picLocks noChangeAspect="1"/>
          </p:cNvPicPr>
          <p:nvPr/>
        </p:nvPicPr>
        <p:blipFill>
          <a:blip r:embed="rId3"/>
          <a:stretch>
            <a:fillRect/>
          </a:stretch>
        </p:blipFill>
        <p:spPr>
          <a:xfrm>
            <a:off x="7151522" y="2936138"/>
            <a:ext cx="281635" cy="281635"/>
          </a:xfrm>
          <a:prstGeom prst="rect">
            <a:avLst/>
          </a:prstGeom>
        </p:spPr>
      </p:pic>
      <p:sp>
        <p:nvSpPr>
          <p:cNvPr id="12" name="Text 6"/>
          <p:cNvSpPr txBox="1"/>
          <p:nvPr/>
        </p:nvSpPr>
        <p:spPr>
          <a:xfrm>
            <a:off x="7680960" y="2825496"/>
            <a:ext cx="3931920" cy="502920"/>
          </a:xfrm>
          <a:prstGeom prst="rect">
            <a:avLst/>
          </a:prstGeom>
          <a:noFill/>
          <a:ln/>
        </p:spPr>
        <p:txBody>
          <a:bodyPr wrap="square" lIns="0" tIns="0" rIns="0" bIns="0" rtlCol="0" anchor="ctr"/>
          <a:lstStyle/>
          <a:p>
            <a:pPr indent="0" marL="0">
              <a:buNone/>
            </a:pPr>
            <a:r>
              <a:rPr lang="en-US" sz="1400" dirty="0">
                <a:solidFill>
                  <a:schemeClr val="tx1"/>
                </a:solidFill>
              </a:rPr>
              <a:t>5 intentos de login por minuto e IP (429)</a:t>
            </a:r>
            <a:endParaRPr lang="en-US" sz="1400" dirty="0"/>
          </a:p>
        </p:txBody>
      </p:sp>
      <p:sp>
        <p:nvSpPr>
          <p:cNvPr id="13" name="Shape 7"/>
          <p:cNvSpPr/>
          <p:nvPr/>
        </p:nvSpPr>
        <p:spPr>
          <a:xfrm>
            <a:off x="7040880" y="3575304"/>
            <a:ext cx="502920" cy="502920"/>
          </a:xfrm>
          <a:prstGeom prst="ellipse">
            <a:avLst/>
          </a:prstGeom>
          <a:solidFill>
            <a:schemeClr val="bg2"/>
          </a:solidFill>
          <a:ln w="12700">
            <a:solidFill>
              <a:schemeClr val="bg2"/>
            </a:solidFill>
            <a:prstDash val="solid"/>
          </a:ln>
        </p:spPr>
      </p:sp>
      <p:pic>
        <p:nvPicPr>
          <p:cNvPr id="14" name="Image 3" descr="preencoded.png">    </p:cNvPr>
          <p:cNvPicPr>
            <a:picLocks noChangeAspect="1"/>
          </p:cNvPicPr>
          <p:nvPr/>
        </p:nvPicPr>
        <p:blipFill>
          <a:blip r:embed="rId4"/>
          <a:stretch>
            <a:fillRect/>
          </a:stretch>
        </p:blipFill>
        <p:spPr>
          <a:xfrm>
            <a:off x="7151522" y="3685946"/>
            <a:ext cx="281635" cy="281635"/>
          </a:xfrm>
          <a:prstGeom prst="rect">
            <a:avLst/>
          </a:prstGeom>
        </p:spPr>
      </p:pic>
      <p:sp>
        <p:nvSpPr>
          <p:cNvPr id="15" name="Text 8"/>
          <p:cNvSpPr txBox="1"/>
          <p:nvPr/>
        </p:nvSpPr>
        <p:spPr>
          <a:xfrm>
            <a:off x="7680960" y="3575304"/>
            <a:ext cx="3931920" cy="502920"/>
          </a:xfrm>
          <a:prstGeom prst="rect">
            <a:avLst/>
          </a:prstGeom>
          <a:noFill/>
          <a:ln/>
        </p:spPr>
        <p:txBody>
          <a:bodyPr wrap="square" lIns="0" tIns="0" rIns="0" bIns="0" rtlCol="0" anchor="ctr"/>
          <a:lstStyle/>
          <a:p>
            <a:pPr indent="0" marL="0">
              <a:buNone/>
            </a:pPr>
            <a:r>
              <a:rPr lang="en-US" sz="1400" dirty="0">
                <a:solidFill>
                  <a:schemeClr val="tx1"/>
                </a:solidFill>
              </a:rPr>
              <a:t>helmet y CORS restringido a los orígenes del hotel</a:t>
            </a:r>
            <a:endParaRPr lang="en-US" sz="1400" dirty="0"/>
          </a:p>
        </p:txBody>
      </p:sp>
      <p:sp>
        <p:nvSpPr>
          <p:cNvPr id="16" name="Shape 9"/>
          <p:cNvSpPr/>
          <p:nvPr/>
        </p:nvSpPr>
        <p:spPr>
          <a:xfrm>
            <a:off x="7040880" y="4325112"/>
            <a:ext cx="502920" cy="502920"/>
          </a:xfrm>
          <a:prstGeom prst="ellipse">
            <a:avLst/>
          </a:prstGeom>
          <a:solidFill>
            <a:schemeClr val="bg2"/>
          </a:solidFill>
          <a:ln w="12700">
            <a:solidFill>
              <a:schemeClr val="bg2"/>
            </a:solidFill>
            <a:prstDash val="solid"/>
          </a:ln>
        </p:spPr>
      </p:sp>
      <p:pic>
        <p:nvPicPr>
          <p:cNvPr id="17" name="Image 4" descr="preencoded.png">    </p:cNvPr>
          <p:cNvPicPr>
            <a:picLocks noChangeAspect="1"/>
          </p:cNvPicPr>
          <p:nvPr/>
        </p:nvPicPr>
        <p:blipFill>
          <a:blip r:embed="rId5"/>
          <a:stretch>
            <a:fillRect/>
          </a:stretch>
        </p:blipFill>
        <p:spPr>
          <a:xfrm>
            <a:off x="7151522" y="4435754"/>
            <a:ext cx="281635" cy="281635"/>
          </a:xfrm>
          <a:prstGeom prst="rect">
            <a:avLst/>
          </a:prstGeom>
        </p:spPr>
      </p:pic>
      <p:sp>
        <p:nvSpPr>
          <p:cNvPr id="18" name="Text 10"/>
          <p:cNvSpPr txBox="1"/>
          <p:nvPr/>
        </p:nvSpPr>
        <p:spPr>
          <a:xfrm>
            <a:off x="7680960" y="4325112"/>
            <a:ext cx="3931920" cy="502920"/>
          </a:xfrm>
          <a:prstGeom prst="rect">
            <a:avLst/>
          </a:prstGeom>
          <a:noFill/>
          <a:ln/>
        </p:spPr>
        <p:txBody>
          <a:bodyPr wrap="square" lIns="0" tIns="0" rIns="0" bIns="0" rtlCol="0" anchor="ctr"/>
          <a:lstStyle/>
          <a:p>
            <a:pPr indent="0" marL="0">
              <a:buNone/>
            </a:pPr>
            <a:r>
              <a:rPr lang="en-US" sz="1400" dirty="0">
                <a:solidFill>
                  <a:schemeClr val="tx1"/>
                </a:solidFill>
              </a:rPr>
              <a:t>Desactivar o cambiar rol aplica al instante</a:t>
            </a:r>
            <a:endParaRPr lang="en-US" sz="1400" dirty="0"/>
          </a:p>
        </p:txBody>
      </p:sp>
      <p:sp>
        <p:nvSpPr>
          <p:cNvPr id="19" name="Shape 11"/>
          <p:cNvSpPr/>
          <p:nvPr/>
        </p:nvSpPr>
        <p:spPr>
          <a:xfrm>
            <a:off x="7040880" y="5074920"/>
            <a:ext cx="502920" cy="502920"/>
          </a:xfrm>
          <a:prstGeom prst="ellipse">
            <a:avLst/>
          </a:prstGeom>
          <a:solidFill>
            <a:schemeClr val="bg2"/>
          </a:solidFill>
          <a:ln w="12700">
            <a:solidFill>
              <a:schemeClr val="bg2"/>
            </a:solidFill>
            <a:prstDash val="solid"/>
          </a:ln>
        </p:spPr>
      </p:sp>
      <p:pic>
        <p:nvPicPr>
          <p:cNvPr id="20" name="Image 5" descr="preencoded.png">    </p:cNvPr>
          <p:cNvPicPr>
            <a:picLocks noChangeAspect="1"/>
          </p:cNvPicPr>
          <p:nvPr/>
        </p:nvPicPr>
        <p:blipFill>
          <a:blip r:embed="rId6"/>
          <a:stretch>
            <a:fillRect/>
          </a:stretch>
        </p:blipFill>
        <p:spPr>
          <a:xfrm>
            <a:off x="7151522" y="5185562"/>
            <a:ext cx="281635" cy="281635"/>
          </a:xfrm>
          <a:prstGeom prst="rect">
            <a:avLst/>
          </a:prstGeom>
        </p:spPr>
      </p:pic>
      <p:sp>
        <p:nvSpPr>
          <p:cNvPr id="21" name="Text 12"/>
          <p:cNvSpPr txBox="1"/>
          <p:nvPr/>
        </p:nvSpPr>
        <p:spPr>
          <a:xfrm>
            <a:off x="7680960" y="5074920"/>
            <a:ext cx="3931920" cy="502920"/>
          </a:xfrm>
          <a:prstGeom prst="rect">
            <a:avLst/>
          </a:prstGeom>
          <a:noFill/>
          <a:ln/>
        </p:spPr>
        <p:txBody>
          <a:bodyPr wrap="square" lIns="0" tIns="0" rIns="0" bIns="0" rtlCol="0" anchor="ctr"/>
          <a:lstStyle/>
          <a:p>
            <a:pPr indent="0" marL="0">
              <a:buNone/>
            </a:pPr>
            <a:r>
              <a:rPr lang="en-US" sz="1400" dirty="0">
                <a:solidFill>
                  <a:schemeClr val="tx1"/>
                </a:solidFill>
              </a:rPr>
              <a:t>Auditoría por reserva: quién hizo qué y cuándo</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Modelo de datos</a:t>
            </a:r>
            <a:endParaRPr lang="en-US" sz="3200" dirty="0"/>
          </a:p>
        </p:txBody>
      </p:sp>
      <p:sp>
        <p:nvSpPr>
          <p:cNvPr id="3" name="Shape 1"/>
          <p:cNvSpPr/>
          <p:nvPr/>
        </p:nvSpPr>
        <p:spPr>
          <a:xfrm>
            <a:off x="2971800" y="2286000"/>
            <a:ext cx="457200" cy="0"/>
          </a:xfrm>
          <a:prstGeom prst="line">
            <a:avLst/>
          </a:prstGeom>
          <a:noFill/>
          <a:ln w="15875">
            <a:solidFill>
              <a:schemeClr val="accent6"/>
            </a:solidFill>
            <a:prstDash val="solid"/>
          </a:ln>
        </p:spPr>
      </p:sp>
      <p:sp>
        <p:nvSpPr>
          <p:cNvPr id="4" name="Text 2"/>
          <p:cNvSpPr txBox="1"/>
          <p:nvPr/>
        </p:nvSpPr>
        <p:spPr>
          <a:xfrm>
            <a:off x="2971800" y="1965960"/>
            <a:ext cx="457200" cy="274320"/>
          </a:xfrm>
          <a:prstGeom prst="rect">
            <a:avLst/>
          </a:prstGeom>
          <a:noFill/>
          <a:ln/>
        </p:spPr>
        <p:txBody>
          <a:bodyPr wrap="square" lIns="0" tIns="0" rIns="0" bIns="0" rtlCol="0" anchor="ctr"/>
          <a:lstStyle/>
          <a:p>
            <a:pPr algn="ctr" indent="0" marL="0">
              <a:buNone/>
            </a:pPr>
            <a:r>
              <a:rPr lang="en-US" sz="1000" i="1" dirty="0">
                <a:solidFill>
                  <a:schemeClr val="accent6"/>
                </a:solidFill>
              </a:rPr>
              <a:t>1 : N</a:t>
            </a:r>
            <a:endParaRPr lang="en-US" sz="1000" dirty="0"/>
          </a:p>
        </p:txBody>
      </p:sp>
      <p:sp>
        <p:nvSpPr>
          <p:cNvPr id="5" name="Shape 3"/>
          <p:cNvSpPr/>
          <p:nvPr/>
        </p:nvSpPr>
        <p:spPr>
          <a:xfrm>
            <a:off x="5852160" y="2286000"/>
            <a:ext cx="457200" cy="0"/>
          </a:xfrm>
          <a:prstGeom prst="line">
            <a:avLst/>
          </a:prstGeom>
          <a:noFill/>
          <a:ln w="15875">
            <a:solidFill>
              <a:schemeClr val="accent6"/>
            </a:solidFill>
            <a:prstDash val="solid"/>
          </a:ln>
        </p:spPr>
      </p:sp>
      <p:sp>
        <p:nvSpPr>
          <p:cNvPr id="6" name="Text 4"/>
          <p:cNvSpPr txBox="1"/>
          <p:nvPr/>
        </p:nvSpPr>
        <p:spPr>
          <a:xfrm>
            <a:off x="5852160" y="1965960"/>
            <a:ext cx="457200" cy="274320"/>
          </a:xfrm>
          <a:prstGeom prst="rect">
            <a:avLst/>
          </a:prstGeom>
          <a:noFill/>
          <a:ln/>
        </p:spPr>
        <p:txBody>
          <a:bodyPr wrap="square" lIns="0" tIns="0" rIns="0" bIns="0" rtlCol="0" anchor="ctr"/>
          <a:lstStyle/>
          <a:p>
            <a:pPr algn="ctr" indent="0" marL="0">
              <a:buNone/>
            </a:pPr>
            <a:r>
              <a:rPr lang="en-US" sz="1000" i="1" dirty="0">
                <a:solidFill>
                  <a:schemeClr val="accent6"/>
                </a:solidFill>
              </a:rPr>
              <a:t>1 : N</a:t>
            </a:r>
            <a:endParaRPr lang="en-US" sz="1000" dirty="0"/>
          </a:p>
        </p:txBody>
      </p:sp>
      <p:sp>
        <p:nvSpPr>
          <p:cNvPr id="7" name="Shape 5"/>
          <p:cNvSpPr/>
          <p:nvPr/>
        </p:nvSpPr>
        <p:spPr>
          <a:xfrm>
            <a:off x="8732520" y="2286000"/>
            <a:ext cx="457200" cy="0"/>
          </a:xfrm>
          <a:prstGeom prst="line">
            <a:avLst/>
          </a:prstGeom>
          <a:noFill/>
          <a:ln w="15875">
            <a:solidFill>
              <a:schemeClr val="accent6"/>
            </a:solidFill>
            <a:prstDash val="solid"/>
          </a:ln>
        </p:spPr>
      </p:sp>
      <p:sp>
        <p:nvSpPr>
          <p:cNvPr id="8" name="Text 6"/>
          <p:cNvSpPr txBox="1"/>
          <p:nvPr/>
        </p:nvSpPr>
        <p:spPr>
          <a:xfrm>
            <a:off x="8732520" y="1965960"/>
            <a:ext cx="457200" cy="274320"/>
          </a:xfrm>
          <a:prstGeom prst="rect">
            <a:avLst/>
          </a:prstGeom>
          <a:noFill/>
          <a:ln/>
        </p:spPr>
        <p:txBody>
          <a:bodyPr wrap="square" lIns="0" tIns="0" rIns="0" bIns="0" rtlCol="0" anchor="ctr"/>
          <a:lstStyle/>
          <a:p>
            <a:pPr algn="ctr" indent="0" marL="0">
              <a:buNone/>
            </a:pPr>
            <a:r>
              <a:rPr lang="en-US" sz="1000" i="1" dirty="0">
                <a:solidFill>
                  <a:schemeClr val="accent6"/>
                </a:solidFill>
              </a:rPr>
              <a:t>N : 1</a:t>
            </a:r>
            <a:endParaRPr lang="en-US" sz="1000" dirty="0"/>
          </a:p>
        </p:txBody>
      </p:sp>
      <p:sp>
        <p:nvSpPr>
          <p:cNvPr id="9" name="Shape 7"/>
          <p:cNvSpPr/>
          <p:nvPr/>
        </p:nvSpPr>
        <p:spPr>
          <a:xfrm>
            <a:off x="7520940" y="3200400"/>
            <a:ext cx="0" cy="822960"/>
          </a:xfrm>
          <a:prstGeom prst="line">
            <a:avLst/>
          </a:prstGeom>
          <a:noFill/>
          <a:ln w="15875">
            <a:solidFill>
              <a:schemeClr val="accent6"/>
            </a:solidFill>
            <a:prstDash val="solid"/>
          </a:ln>
        </p:spPr>
      </p:sp>
      <p:sp>
        <p:nvSpPr>
          <p:cNvPr id="10" name="Text 8"/>
          <p:cNvSpPr txBox="1"/>
          <p:nvPr/>
        </p:nvSpPr>
        <p:spPr>
          <a:xfrm>
            <a:off x="7589520" y="3429000"/>
            <a:ext cx="914400" cy="274320"/>
          </a:xfrm>
          <a:prstGeom prst="rect">
            <a:avLst/>
          </a:prstGeom>
          <a:noFill/>
          <a:ln/>
        </p:spPr>
        <p:txBody>
          <a:bodyPr wrap="square" lIns="0" tIns="0" rIns="0" bIns="0" rtlCol="0" anchor="ctr"/>
          <a:lstStyle/>
          <a:p>
            <a:pPr algn="ctr" indent="0" marL="0">
              <a:buNone/>
            </a:pPr>
            <a:r>
              <a:rPr lang="en-US" sz="1000" i="1" dirty="0">
                <a:solidFill>
                  <a:schemeClr val="accent6"/>
                </a:solidFill>
              </a:rPr>
              <a:t>auditoría</a:t>
            </a:r>
            <a:endParaRPr lang="en-US" sz="1000" dirty="0"/>
          </a:p>
        </p:txBody>
      </p:sp>
      <p:sp>
        <p:nvSpPr>
          <p:cNvPr id="11" name="Shape 9"/>
          <p:cNvSpPr/>
          <p:nvPr/>
        </p:nvSpPr>
        <p:spPr>
          <a:xfrm>
            <a:off x="8732520" y="3200400"/>
            <a:ext cx="914400" cy="822960"/>
          </a:xfrm>
          <a:prstGeom prst="line">
            <a:avLst/>
          </a:prstGeom>
          <a:noFill/>
          <a:ln w="15875">
            <a:solidFill>
              <a:schemeClr val="accent6"/>
            </a:solidFill>
            <a:prstDash val="solid"/>
          </a:ln>
        </p:spPr>
      </p:sp>
      <p:sp>
        <p:nvSpPr>
          <p:cNvPr id="12" name="Text 10"/>
          <p:cNvSpPr txBox="1"/>
          <p:nvPr/>
        </p:nvSpPr>
        <p:spPr>
          <a:xfrm>
            <a:off x="8915400" y="3337560"/>
            <a:ext cx="457200" cy="274320"/>
          </a:xfrm>
          <a:prstGeom prst="rect">
            <a:avLst/>
          </a:prstGeom>
          <a:noFill/>
          <a:ln/>
        </p:spPr>
        <p:txBody>
          <a:bodyPr wrap="square" lIns="0" tIns="0" rIns="0" bIns="0" rtlCol="0" anchor="ctr"/>
          <a:lstStyle/>
          <a:p>
            <a:pPr algn="ctr" indent="0" marL="0">
              <a:buNone/>
            </a:pPr>
            <a:r>
              <a:rPr lang="en-US" sz="1000" i="1" dirty="0">
                <a:solidFill>
                  <a:schemeClr val="accent6"/>
                </a:solidFill>
              </a:rPr>
              <a:t>folio</a:t>
            </a:r>
            <a:endParaRPr lang="en-US" sz="1000" dirty="0"/>
          </a:p>
        </p:txBody>
      </p:sp>
      <p:sp>
        <p:nvSpPr>
          <p:cNvPr id="13" name="Shape 11"/>
          <p:cNvSpPr/>
          <p:nvPr/>
        </p:nvSpPr>
        <p:spPr>
          <a:xfrm>
            <a:off x="5852160" y="4937760"/>
            <a:ext cx="457200" cy="0"/>
          </a:xfrm>
          <a:prstGeom prst="line">
            <a:avLst/>
          </a:prstGeom>
          <a:noFill/>
          <a:ln w="15875">
            <a:solidFill>
              <a:schemeClr val="accent6"/>
            </a:solidFill>
            <a:prstDash val="solid"/>
          </a:ln>
        </p:spPr>
      </p:sp>
      <p:sp>
        <p:nvSpPr>
          <p:cNvPr id="14" name="Text 12"/>
          <p:cNvSpPr txBox="1"/>
          <p:nvPr/>
        </p:nvSpPr>
        <p:spPr>
          <a:xfrm>
            <a:off x="5852160" y="4617720"/>
            <a:ext cx="457200" cy="274320"/>
          </a:xfrm>
          <a:prstGeom prst="rect">
            <a:avLst/>
          </a:prstGeom>
          <a:noFill/>
          <a:ln/>
        </p:spPr>
        <p:txBody>
          <a:bodyPr wrap="square" lIns="0" tIns="0" rIns="0" bIns="0" rtlCol="0" anchor="ctr"/>
          <a:lstStyle/>
          <a:p>
            <a:pPr algn="ctr" indent="0" marL="0">
              <a:buNone/>
            </a:pPr>
            <a:r>
              <a:rPr lang="en-US" sz="1000" i="1" dirty="0">
                <a:solidFill>
                  <a:schemeClr val="accent6"/>
                </a:solidFill>
              </a:rPr>
              <a:t>1 : N</a:t>
            </a:r>
            <a:endParaRPr lang="en-US" sz="1000" dirty="0"/>
          </a:p>
        </p:txBody>
      </p:sp>
      <p:sp>
        <p:nvSpPr>
          <p:cNvPr id="15" name="Shape 13"/>
          <p:cNvSpPr/>
          <p:nvPr/>
        </p:nvSpPr>
        <p:spPr>
          <a:xfrm>
            <a:off x="548640" y="1371600"/>
            <a:ext cx="2423160" cy="1828800"/>
          </a:xfrm>
          <a:prstGeom prst="roundRect">
            <a:avLst>
              <a:gd name="adj" fmla="val 5000"/>
            </a:avLst>
          </a:prstGeom>
          <a:solidFill>
            <a:schemeClr val="bg2"/>
          </a:solidFill>
          <a:ln w="12700">
            <a:solidFill>
              <a:srgbClr val="D9DEE7"/>
            </a:solidFill>
            <a:prstDash val="solid"/>
          </a:ln>
        </p:spPr>
      </p:sp>
      <p:sp>
        <p:nvSpPr>
          <p:cNvPr id="16" name="Text 14"/>
          <p:cNvSpPr txBox="1"/>
          <p:nvPr/>
        </p:nvSpPr>
        <p:spPr>
          <a:xfrm>
            <a:off x="731520" y="1508760"/>
            <a:ext cx="2057400" cy="41148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TipoHabitacion</a:t>
            </a:r>
            <a:endParaRPr lang="en-US" sz="1600" dirty="0"/>
          </a:p>
        </p:txBody>
      </p:sp>
      <p:sp>
        <p:nvSpPr>
          <p:cNvPr id="17" name="Text 15"/>
          <p:cNvSpPr txBox="1"/>
          <p:nvPr/>
        </p:nvSpPr>
        <p:spPr>
          <a:xfrm>
            <a:off x="731520" y="1965960"/>
            <a:ext cx="2057400" cy="1143000"/>
          </a:xfrm>
          <a:prstGeom prst="rect">
            <a:avLst/>
          </a:prstGeom>
          <a:noFill/>
          <a:ln/>
        </p:spPr>
        <p:txBody>
          <a:bodyPr wrap="square" lIns="0" tIns="0" rIns="0" bIns="0" rtlCol="0" anchor="t"/>
          <a:lstStyle/>
          <a:p>
            <a:pPr indent="0" marL="0">
              <a:buNone/>
            </a:pPr>
            <a:r>
              <a:rPr lang="en-US" sz="1200" dirty="0">
                <a:solidFill>
                  <a:schemeClr val="tx1"/>
                </a:solidFill>
              </a:rPr>
              <a:t>código · tarifa base</a:t>
            </a:r>
            <a:endParaRPr lang="en-US" sz="1200" dirty="0"/>
          </a:p>
          <a:p>
            <a:pPr indent="0" marL="0">
              <a:buNone/>
            </a:pPr>
            <a:r>
              <a:rPr lang="en-US" sz="1200" dirty="0">
                <a:solidFill>
                  <a:schemeClr val="tx1"/>
                </a:solidFill>
              </a:rPr>
              <a:t>capacidad incluida / máxima</a:t>
            </a:r>
            <a:endParaRPr lang="en-US" sz="1200" dirty="0"/>
          </a:p>
          <a:p>
            <a:pPr indent="0" marL="0">
              <a:buNone/>
            </a:pPr>
            <a:r>
              <a:rPr lang="en-US" sz="1200" dirty="0">
                <a:solidFill>
                  <a:schemeClr val="tx1"/>
                </a:solidFill>
              </a:rPr>
              <a:t>cargo persona adicional</a:t>
            </a:r>
            <a:endParaRPr lang="en-US" sz="1200" dirty="0"/>
          </a:p>
        </p:txBody>
      </p:sp>
      <p:sp>
        <p:nvSpPr>
          <p:cNvPr id="18" name="Shape 16"/>
          <p:cNvSpPr/>
          <p:nvPr/>
        </p:nvSpPr>
        <p:spPr>
          <a:xfrm>
            <a:off x="3429000" y="1371600"/>
            <a:ext cx="2423160" cy="1828800"/>
          </a:xfrm>
          <a:prstGeom prst="roundRect">
            <a:avLst>
              <a:gd name="adj" fmla="val 5000"/>
            </a:avLst>
          </a:prstGeom>
          <a:solidFill>
            <a:schemeClr val="bg2"/>
          </a:solidFill>
          <a:ln w="12700">
            <a:solidFill>
              <a:srgbClr val="D9DEE7"/>
            </a:solidFill>
            <a:prstDash val="solid"/>
          </a:ln>
        </p:spPr>
      </p:sp>
      <p:sp>
        <p:nvSpPr>
          <p:cNvPr id="19" name="Text 17"/>
          <p:cNvSpPr txBox="1"/>
          <p:nvPr/>
        </p:nvSpPr>
        <p:spPr>
          <a:xfrm>
            <a:off x="3611880" y="1508760"/>
            <a:ext cx="2057400" cy="41148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Habitacion</a:t>
            </a:r>
            <a:endParaRPr lang="en-US" sz="1600" dirty="0"/>
          </a:p>
        </p:txBody>
      </p:sp>
      <p:sp>
        <p:nvSpPr>
          <p:cNvPr id="20" name="Text 18"/>
          <p:cNvSpPr txBox="1"/>
          <p:nvPr/>
        </p:nvSpPr>
        <p:spPr>
          <a:xfrm>
            <a:off x="3611880" y="1965960"/>
            <a:ext cx="2057400" cy="1143000"/>
          </a:xfrm>
          <a:prstGeom prst="rect">
            <a:avLst/>
          </a:prstGeom>
          <a:noFill/>
          <a:ln/>
        </p:spPr>
        <p:txBody>
          <a:bodyPr wrap="square" lIns="0" tIns="0" rIns="0" bIns="0" rtlCol="0" anchor="t"/>
          <a:lstStyle/>
          <a:p>
            <a:pPr indent="0" marL="0">
              <a:buNone/>
            </a:pPr>
            <a:r>
              <a:rPr lang="en-US" sz="1200" dirty="0">
                <a:solidFill>
                  <a:schemeClr val="tx1"/>
                </a:solidFill>
              </a:rPr>
              <a:t>número · estado</a:t>
            </a:r>
            <a:endParaRPr lang="en-US" sz="1200" dirty="0"/>
          </a:p>
          <a:p>
            <a:pPr indent="0" marL="0">
              <a:buNone/>
            </a:pPr>
            <a:r>
              <a:rPr lang="en-US" sz="1200" dirty="0">
                <a:solidFill>
                  <a:schemeClr val="tx1"/>
                </a:solidFill>
              </a:rPr>
              <a:t>(libre, ocupada, limpieza,</a:t>
            </a:r>
            <a:endParaRPr lang="en-US" sz="1200" dirty="0"/>
          </a:p>
          <a:p>
            <a:pPr indent="0" marL="0">
              <a:buNone/>
            </a:pPr>
            <a:r>
              <a:rPr lang="en-US" sz="1200" dirty="0">
                <a:solidFill>
                  <a:schemeClr val="tx1"/>
                </a:solidFill>
              </a:rPr>
              <a:t>fuera de servicio)</a:t>
            </a:r>
            <a:endParaRPr lang="en-US" sz="1200" dirty="0"/>
          </a:p>
        </p:txBody>
      </p:sp>
      <p:sp>
        <p:nvSpPr>
          <p:cNvPr id="21" name="Shape 19"/>
          <p:cNvSpPr/>
          <p:nvPr/>
        </p:nvSpPr>
        <p:spPr>
          <a:xfrm>
            <a:off x="6309360" y="1371600"/>
            <a:ext cx="2423160" cy="1828800"/>
          </a:xfrm>
          <a:prstGeom prst="roundRect">
            <a:avLst>
              <a:gd name="adj" fmla="val 5000"/>
            </a:avLst>
          </a:prstGeom>
          <a:solidFill>
            <a:schemeClr val="tx2"/>
          </a:solidFill>
          <a:ln w="12700">
            <a:solidFill>
              <a:schemeClr val="tx2"/>
            </a:solidFill>
            <a:prstDash val="solid"/>
          </a:ln>
        </p:spPr>
      </p:sp>
      <p:sp>
        <p:nvSpPr>
          <p:cNvPr id="22" name="Text 20"/>
          <p:cNvSpPr txBox="1"/>
          <p:nvPr/>
        </p:nvSpPr>
        <p:spPr>
          <a:xfrm>
            <a:off x="6492240" y="1508760"/>
            <a:ext cx="2057400" cy="411480"/>
          </a:xfrm>
          <a:prstGeom prst="rect">
            <a:avLst/>
          </a:prstGeom>
          <a:noFill/>
          <a:ln/>
        </p:spPr>
        <p:txBody>
          <a:bodyPr wrap="square" lIns="0" tIns="0" rIns="0" bIns="0" rtlCol="0" anchor="ctr"/>
          <a:lstStyle/>
          <a:p>
            <a:pPr indent="0" marL="0">
              <a:buNone/>
            </a:pPr>
            <a:r>
              <a:rPr lang="en-US" sz="1600" b="1" dirty="0">
                <a:solidFill>
                  <a:schemeClr val="accent1"/>
                </a:solidFill>
                <a:latin typeface="Cambria" pitchFamily="34" charset="0"/>
                <a:ea typeface="Cambria" pitchFamily="34" charset="-122"/>
                <a:cs typeface="Cambria" pitchFamily="34" charset="-120"/>
              </a:rPr>
              <a:t>Reserva</a:t>
            </a:r>
            <a:endParaRPr lang="en-US" sz="1600" dirty="0"/>
          </a:p>
        </p:txBody>
      </p:sp>
      <p:sp>
        <p:nvSpPr>
          <p:cNvPr id="23" name="Text 21"/>
          <p:cNvSpPr txBox="1"/>
          <p:nvPr/>
        </p:nvSpPr>
        <p:spPr>
          <a:xfrm>
            <a:off x="6492240" y="1965960"/>
            <a:ext cx="2057400" cy="1143000"/>
          </a:xfrm>
          <a:prstGeom prst="rect">
            <a:avLst/>
          </a:prstGeom>
          <a:noFill/>
          <a:ln/>
        </p:spPr>
        <p:txBody>
          <a:bodyPr wrap="square" lIns="0" tIns="0" rIns="0" bIns="0" rtlCol="0" anchor="t"/>
          <a:lstStyle/>
          <a:p>
            <a:pPr indent="0" marL="0">
              <a:buNone/>
            </a:pPr>
            <a:r>
              <a:rPr lang="en-US" sz="1200" dirty="0">
                <a:solidFill>
                  <a:schemeClr val="bg1"/>
                </a:solidFill>
              </a:rPr>
              <a:t>fechas · estado · huéspedes</a:t>
            </a:r>
            <a:endParaRPr lang="en-US" sz="1200" dirty="0"/>
          </a:p>
          <a:p>
            <a:pPr indent="0" marL="0">
              <a:buNone/>
            </a:pPr>
            <a:r>
              <a:rPr lang="en-US" sz="1200" dirty="0">
                <a:solidFill>
                  <a:schemeClr val="bg1"/>
                </a:solidFill>
              </a:rPr>
              <a:t>valor alojamiento · desglose JSON</a:t>
            </a:r>
            <a:endParaRPr lang="en-US" sz="1200" dirty="0"/>
          </a:p>
          <a:p>
            <a:pPr indent="0" marL="0">
              <a:buNone/>
            </a:pPr>
            <a:r>
              <a:rPr lang="en-US" sz="1200" dirty="0">
                <a:solidFill>
                  <a:schemeClr val="bg1"/>
                </a:solidFill>
              </a:rPr>
              <a:t>total · medio de pago</a:t>
            </a:r>
            <a:endParaRPr lang="en-US" sz="1200" dirty="0"/>
          </a:p>
        </p:txBody>
      </p:sp>
      <p:sp>
        <p:nvSpPr>
          <p:cNvPr id="24" name="Shape 22"/>
          <p:cNvSpPr/>
          <p:nvPr/>
        </p:nvSpPr>
        <p:spPr>
          <a:xfrm>
            <a:off x="9189720" y="1371600"/>
            <a:ext cx="2423160" cy="1828800"/>
          </a:xfrm>
          <a:prstGeom prst="roundRect">
            <a:avLst>
              <a:gd name="adj" fmla="val 5000"/>
            </a:avLst>
          </a:prstGeom>
          <a:solidFill>
            <a:schemeClr val="bg2"/>
          </a:solidFill>
          <a:ln w="12700">
            <a:solidFill>
              <a:srgbClr val="D9DEE7"/>
            </a:solidFill>
            <a:prstDash val="solid"/>
          </a:ln>
        </p:spPr>
      </p:sp>
      <p:sp>
        <p:nvSpPr>
          <p:cNvPr id="25" name="Text 23"/>
          <p:cNvSpPr txBox="1"/>
          <p:nvPr/>
        </p:nvSpPr>
        <p:spPr>
          <a:xfrm>
            <a:off x="9372600" y="1508760"/>
            <a:ext cx="2057400" cy="41148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Huesped</a:t>
            </a:r>
            <a:endParaRPr lang="en-US" sz="1600" dirty="0"/>
          </a:p>
        </p:txBody>
      </p:sp>
      <p:sp>
        <p:nvSpPr>
          <p:cNvPr id="26" name="Text 24"/>
          <p:cNvSpPr txBox="1"/>
          <p:nvPr/>
        </p:nvSpPr>
        <p:spPr>
          <a:xfrm>
            <a:off x="9372600" y="1965960"/>
            <a:ext cx="2057400" cy="1143000"/>
          </a:xfrm>
          <a:prstGeom prst="rect">
            <a:avLst/>
          </a:prstGeom>
          <a:noFill/>
          <a:ln/>
        </p:spPr>
        <p:txBody>
          <a:bodyPr wrap="square" lIns="0" tIns="0" rIns="0" bIns="0" rtlCol="0" anchor="t"/>
          <a:lstStyle/>
          <a:p>
            <a:pPr indent="0" marL="0">
              <a:buNone/>
            </a:pPr>
            <a:r>
              <a:rPr lang="en-US" sz="1200" dirty="0">
                <a:solidFill>
                  <a:schemeClr val="tx1"/>
                </a:solidFill>
              </a:rPr>
              <a:t>tipo + documento (único)</a:t>
            </a:r>
            <a:endParaRPr lang="en-US" sz="1200" dirty="0"/>
          </a:p>
          <a:p>
            <a:pPr indent="0" marL="0">
              <a:buNone/>
            </a:pPr>
            <a:r>
              <a:rPr lang="en-US" sz="1200" dirty="0">
                <a:solidFill>
                  <a:schemeClr val="tx1"/>
                </a:solidFill>
              </a:rPr>
              <a:t>nombre · nacionalidad</a:t>
            </a:r>
            <a:endParaRPr lang="en-US" sz="1200" dirty="0"/>
          </a:p>
          <a:p>
            <a:pPr indent="0" marL="0">
              <a:buNone/>
            </a:pPr>
            <a:r>
              <a:rPr lang="en-US" sz="1200" dirty="0">
                <a:solidFill>
                  <a:schemeClr val="tx1"/>
                </a:solidFill>
              </a:rPr>
              <a:t>procedencia</a:t>
            </a:r>
            <a:endParaRPr lang="en-US" sz="1200" dirty="0"/>
          </a:p>
        </p:txBody>
      </p:sp>
      <p:sp>
        <p:nvSpPr>
          <p:cNvPr id="27" name="Shape 25"/>
          <p:cNvSpPr/>
          <p:nvPr/>
        </p:nvSpPr>
        <p:spPr>
          <a:xfrm>
            <a:off x="3429000" y="4023360"/>
            <a:ext cx="2423160" cy="1828800"/>
          </a:xfrm>
          <a:prstGeom prst="roundRect">
            <a:avLst>
              <a:gd name="adj" fmla="val 5000"/>
            </a:avLst>
          </a:prstGeom>
          <a:solidFill>
            <a:schemeClr val="bg2"/>
          </a:solidFill>
          <a:ln w="12700">
            <a:solidFill>
              <a:srgbClr val="D9DEE7"/>
            </a:solidFill>
            <a:prstDash val="solid"/>
          </a:ln>
        </p:spPr>
      </p:sp>
      <p:sp>
        <p:nvSpPr>
          <p:cNvPr id="28" name="Text 26"/>
          <p:cNvSpPr txBox="1"/>
          <p:nvPr/>
        </p:nvSpPr>
        <p:spPr>
          <a:xfrm>
            <a:off x="3611880" y="4160520"/>
            <a:ext cx="2057400" cy="41148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Usuario</a:t>
            </a:r>
            <a:endParaRPr lang="en-US" sz="1600" dirty="0"/>
          </a:p>
        </p:txBody>
      </p:sp>
      <p:sp>
        <p:nvSpPr>
          <p:cNvPr id="29" name="Text 27"/>
          <p:cNvSpPr txBox="1"/>
          <p:nvPr/>
        </p:nvSpPr>
        <p:spPr>
          <a:xfrm>
            <a:off x="3611880" y="4617720"/>
            <a:ext cx="2057400" cy="1143000"/>
          </a:xfrm>
          <a:prstGeom prst="rect">
            <a:avLst/>
          </a:prstGeom>
          <a:noFill/>
          <a:ln/>
        </p:spPr>
        <p:txBody>
          <a:bodyPr wrap="square" lIns="0" tIns="0" rIns="0" bIns="0" rtlCol="0" anchor="t"/>
          <a:lstStyle/>
          <a:p>
            <a:pPr indent="0" marL="0">
              <a:buNone/>
            </a:pPr>
            <a:r>
              <a:rPr lang="en-US" sz="1200" dirty="0">
                <a:solidFill>
                  <a:schemeClr val="tx1"/>
                </a:solidFill>
              </a:rPr>
              <a:t>email · rol · activo</a:t>
            </a:r>
            <a:endParaRPr lang="en-US" sz="1200" dirty="0"/>
          </a:p>
          <a:p>
            <a:pPr indent="0" marL="0">
              <a:buNone/>
            </a:pPr>
            <a:r>
              <a:rPr lang="en-US" sz="1200" dirty="0">
                <a:solidFill>
                  <a:schemeClr val="tx1"/>
                </a:solidFill>
              </a:rPr>
              <a:t>contraseña (scrypt)</a:t>
            </a:r>
            <a:endParaRPr lang="en-US" sz="1200" dirty="0"/>
          </a:p>
        </p:txBody>
      </p:sp>
      <p:sp>
        <p:nvSpPr>
          <p:cNvPr id="30" name="Shape 28"/>
          <p:cNvSpPr/>
          <p:nvPr/>
        </p:nvSpPr>
        <p:spPr>
          <a:xfrm>
            <a:off x="6309360" y="4023360"/>
            <a:ext cx="2423160" cy="1828800"/>
          </a:xfrm>
          <a:prstGeom prst="roundRect">
            <a:avLst>
              <a:gd name="adj" fmla="val 5000"/>
            </a:avLst>
          </a:prstGeom>
          <a:solidFill>
            <a:schemeClr val="bg2"/>
          </a:solidFill>
          <a:ln w="12700">
            <a:solidFill>
              <a:srgbClr val="D9DEE7"/>
            </a:solidFill>
            <a:prstDash val="solid"/>
          </a:ln>
        </p:spPr>
      </p:sp>
      <p:sp>
        <p:nvSpPr>
          <p:cNvPr id="31" name="Text 29"/>
          <p:cNvSpPr txBox="1"/>
          <p:nvPr/>
        </p:nvSpPr>
        <p:spPr>
          <a:xfrm>
            <a:off x="6492240" y="4160520"/>
            <a:ext cx="2057400" cy="41148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EventoReserva</a:t>
            </a:r>
            <a:endParaRPr lang="en-US" sz="1600" dirty="0"/>
          </a:p>
        </p:txBody>
      </p:sp>
      <p:sp>
        <p:nvSpPr>
          <p:cNvPr id="32" name="Text 30"/>
          <p:cNvSpPr txBox="1"/>
          <p:nvPr/>
        </p:nvSpPr>
        <p:spPr>
          <a:xfrm>
            <a:off x="6492240" y="4617720"/>
            <a:ext cx="2057400" cy="1143000"/>
          </a:xfrm>
          <a:prstGeom prst="rect">
            <a:avLst/>
          </a:prstGeom>
          <a:noFill/>
          <a:ln/>
        </p:spPr>
        <p:txBody>
          <a:bodyPr wrap="square" lIns="0" tIns="0" rIns="0" bIns="0" rtlCol="0" anchor="t"/>
          <a:lstStyle/>
          <a:p>
            <a:pPr indent="0" marL="0">
              <a:buNone/>
            </a:pPr>
            <a:r>
              <a:rPr lang="en-US" sz="1200" dirty="0">
                <a:solidFill>
                  <a:schemeClr val="tx1"/>
                </a:solidFill>
              </a:rPr>
              <a:t>tipo · fecha · detalle</a:t>
            </a:r>
            <a:endParaRPr lang="en-US" sz="1200" dirty="0"/>
          </a:p>
          <a:p>
            <a:pPr indent="0" marL="0">
              <a:buNone/>
            </a:pPr>
            <a:r>
              <a:rPr lang="en-US" sz="1200" dirty="0">
                <a:solidFill>
                  <a:schemeClr val="tx1"/>
                </a:solidFill>
              </a:rPr>
              <a:t>(auditoría)</a:t>
            </a:r>
            <a:endParaRPr lang="en-US" sz="1200" dirty="0"/>
          </a:p>
        </p:txBody>
      </p:sp>
      <p:sp>
        <p:nvSpPr>
          <p:cNvPr id="33" name="Shape 31"/>
          <p:cNvSpPr/>
          <p:nvPr/>
        </p:nvSpPr>
        <p:spPr>
          <a:xfrm>
            <a:off x="9189720" y="4023360"/>
            <a:ext cx="2423160" cy="1828800"/>
          </a:xfrm>
          <a:prstGeom prst="roundRect">
            <a:avLst>
              <a:gd name="adj" fmla="val 5000"/>
            </a:avLst>
          </a:prstGeom>
          <a:solidFill>
            <a:schemeClr val="bg2"/>
          </a:solidFill>
          <a:ln w="12700">
            <a:solidFill>
              <a:srgbClr val="D9DEE7"/>
            </a:solidFill>
            <a:prstDash val="solid"/>
          </a:ln>
        </p:spPr>
      </p:sp>
      <p:sp>
        <p:nvSpPr>
          <p:cNvPr id="34" name="Text 32"/>
          <p:cNvSpPr txBox="1"/>
          <p:nvPr/>
        </p:nvSpPr>
        <p:spPr>
          <a:xfrm>
            <a:off x="9372600" y="4160520"/>
            <a:ext cx="2057400" cy="411480"/>
          </a:xfrm>
          <a:prstGeom prst="rect">
            <a:avLst/>
          </a:prstGeom>
          <a:noFill/>
          <a:ln/>
        </p:spPr>
        <p:txBody>
          <a:bodyPr wrap="square" lIns="0" tIns="0" rIns="0" bIns="0" rtlCol="0" anchor="ctr"/>
          <a:lstStyle/>
          <a:p>
            <a:pPr indent="0" marL="0">
              <a:buNone/>
            </a:pPr>
            <a:r>
              <a:rPr lang="en-US" sz="1600" b="1" dirty="0">
                <a:solidFill>
                  <a:schemeClr val="tx2"/>
                </a:solidFill>
                <a:latin typeface="Cambria" pitchFamily="34" charset="0"/>
                <a:ea typeface="Cambria" pitchFamily="34" charset="-122"/>
                <a:cs typeface="Cambria" pitchFamily="34" charset="-120"/>
              </a:rPr>
              <a:t>Cargo</a:t>
            </a:r>
            <a:endParaRPr lang="en-US" sz="1600" dirty="0"/>
          </a:p>
        </p:txBody>
      </p:sp>
      <p:sp>
        <p:nvSpPr>
          <p:cNvPr id="35" name="Text 33"/>
          <p:cNvSpPr txBox="1"/>
          <p:nvPr/>
        </p:nvSpPr>
        <p:spPr>
          <a:xfrm>
            <a:off x="9372600" y="4617720"/>
            <a:ext cx="2057400" cy="1143000"/>
          </a:xfrm>
          <a:prstGeom prst="rect">
            <a:avLst/>
          </a:prstGeom>
          <a:noFill/>
          <a:ln/>
        </p:spPr>
        <p:txBody>
          <a:bodyPr wrap="square" lIns="0" tIns="0" rIns="0" bIns="0" rtlCol="0" anchor="t"/>
          <a:lstStyle/>
          <a:p>
            <a:pPr indent="0" marL="0">
              <a:buNone/>
            </a:pPr>
            <a:r>
              <a:rPr lang="en-US" sz="1200" dirty="0">
                <a:solidFill>
                  <a:schemeClr val="tx1"/>
                </a:solidFill>
              </a:rPr>
              <a:t>categoría · concepto · total</a:t>
            </a:r>
            <a:endParaRPr lang="en-US" sz="1200" dirty="0"/>
          </a:p>
          <a:p>
            <a:pPr indent="0" marL="0">
              <a:buNone/>
            </a:pPr>
            <a:r>
              <a:rPr lang="en-US" sz="1200" dirty="0">
                <a:solidFill>
                  <a:schemeClr val="tx1"/>
                </a:solidFill>
              </a:rPr>
              <a:t>anulado + motivo</a:t>
            </a:r>
            <a:endParaRPr lang="en-US" sz="1200" dirty="0"/>
          </a:p>
        </p:txBody>
      </p:sp>
      <p:sp>
        <p:nvSpPr>
          <p:cNvPr id="36" name="Text 34"/>
          <p:cNvSpPr txBox="1"/>
          <p:nvPr/>
        </p:nvSpPr>
        <p:spPr>
          <a:xfrm>
            <a:off x="548640" y="4069080"/>
            <a:ext cx="2651760" cy="1783080"/>
          </a:xfrm>
          <a:prstGeom prst="rect">
            <a:avLst/>
          </a:prstGeom>
          <a:noFill/>
          <a:ln/>
        </p:spPr>
        <p:txBody>
          <a:bodyPr wrap="square" lIns="0" tIns="0" rIns="0" bIns="0" rtlCol="0" anchor="t"/>
          <a:lstStyle/>
          <a:p>
            <a:pPr indent="0" marL="0">
              <a:buNone/>
            </a:pPr>
            <a:r>
              <a:rPr lang="en-US" sz="1300" i="1" dirty="0">
                <a:solidFill>
                  <a:schemeClr val="accent6"/>
                </a:solidFill>
              </a:rPr>
              <a:t>Anular en vez de borrar: consumos y usuarios se anulan o desactivan para no perder trazabilidad. 10 migraciones versionadas con Prisma.</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Calidad verificable, no prometida</a:t>
            </a:r>
            <a:endParaRPr lang="en-US" sz="3200" dirty="0"/>
          </a:p>
        </p:txBody>
      </p:sp>
      <p:sp>
        <p:nvSpPr>
          <p:cNvPr id="3" name="Text 1"/>
          <p:cNvSpPr txBox="1"/>
          <p:nvPr/>
        </p:nvSpPr>
        <p:spPr>
          <a:xfrm>
            <a:off x="548640" y="1280160"/>
            <a:ext cx="3657600" cy="1188720"/>
          </a:xfrm>
          <a:prstGeom prst="rect">
            <a:avLst/>
          </a:prstGeom>
          <a:noFill/>
          <a:ln/>
        </p:spPr>
        <p:txBody>
          <a:bodyPr wrap="square" lIns="0" tIns="0" rIns="0" bIns="0" rtlCol="0" anchor="ctr"/>
          <a:lstStyle/>
          <a:p>
            <a:pPr indent="0" marL="0">
              <a:buNone/>
            </a:pPr>
            <a:r>
              <a:rPr lang="en-US" sz="8000" b="1" dirty="0">
                <a:solidFill>
                  <a:schemeClr val="tx2"/>
                </a:solidFill>
                <a:latin typeface="Cambria" pitchFamily="34" charset="0"/>
                <a:ea typeface="Cambria" pitchFamily="34" charset="-122"/>
                <a:cs typeface="Cambria" pitchFamily="34" charset="-120"/>
              </a:rPr>
              <a:t>196</a:t>
            </a:r>
            <a:endParaRPr lang="en-US" sz="8000" dirty="0"/>
          </a:p>
        </p:txBody>
      </p:sp>
      <p:sp>
        <p:nvSpPr>
          <p:cNvPr id="4" name="Text 2"/>
          <p:cNvSpPr txBox="1"/>
          <p:nvPr/>
        </p:nvSpPr>
        <p:spPr>
          <a:xfrm>
            <a:off x="548640" y="2514600"/>
            <a:ext cx="3840480" cy="731520"/>
          </a:xfrm>
          <a:prstGeom prst="rect">
            <a:avLst/>
          </a:prstGeom>
          <a:noFill/>
          <a:ln/>
        </p:spPr>
        <p:txBody>
          <a:bodyPr wrap="square" lIns="0" tIns="0" rIns="0" bIns="0" rtlCol="0" anchor="t"/>
          <a:lstStyle/>
          <a:p>
            <a:pPr indent="0" marL="0">
              <a:buNone/>
            </a:pPr>
            <a:r>
              <a:rPr lang="en-US" sz="1500" dirty="0">
                <a:solidFill>
                  <a:schemeClr val="tx1"/>
                </a:solidFill>
              </a:rPr>
              <a:t>pruebas automáticas, todas en verde (verificado el 14 de octubre de 2026)</a:t>
            </a:r>
            <a:endParaRPr lang="en-US" sz="1500" dirty="0"/>
          </a:p>
        </p:txBody>
      </p:sp>
      <p:graphicFrame>
        <p:nvGraphicFramePr>
          <p:cNvPr id="5" name="Chart 0" descr=""/>
          <p:cNvGraphicFramePr/>
          <p:nvPr/>
        </p:nvGraphicFramePr>
        <p:xfrm>
          <a:off x="4663440" y="1280160"/>
          <a:ext cx="6949440" cy="23774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 y="4023360"/>
            <a:ext cx="2560320" cy="2011680"/>
          </a:xfrm>
          <a:prstGeom prst="roundRect">
            <a:avLst>
              <a:gd name="adj" fmla="val 5455"/>
            </a:avLst>
          </a:prstGeom>
          <a:solidFill>
            <a:schemeClr val="bg2"/>
          </a:solidFill>
          <a:ln w="12700">
            <a:solidFill>
              <a:schemeClr val="bg2"/>
            </a:solidFill>
            <a:prstDash val="solid"/>
          </a:ln>
        </p:spPr>
      </p:sp>
      <p:sp>
        <p:nvSpPr>
          <p:cNvPr id="7" name="Text 4"/>
          <p:cNvSpPr txBox="1"/>
          <p:nvPr/>
        </p:nvSpPr>
        <p:spPr>
          <a:xfrm>
            <a:off x="777240" y="4160520"/>
            <a:ext cx="210312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0</a:t>
            </a:r>
            <a:endParaRPr lang="en-US" sz="4000" dirty="0"/>
          </a:p>
        </p:txBody>
      </p:sp>
      <p:sp>
        <p:nvSpPr>
          <p:cNvPr id="8" name="Text 5"/>
          <p:cNvSpPr txBox="1"/>
          <p:nvPr/>
        </p:nvSpPr>
        <p:spPr>
          <a:xfrm>
            <a:off x="777240" y="4983480"/>
            <a:ext cx="2103120" cy="914400"/>
          </a:xfrm>
          <a:prstGeom prst="rect">
            <a:avLst/>
          </a:prstGeom>
          <a:noFill/>
          <a:ln/>
        </p:spPr>
        <p:txBody>
          <a:bodyPr wrap="square" lIns="0" tIns="0" rIns="0" bIns="0" rtlCol="0" anchor="t"/>
          <a:lstStyle/>
          <a:p>
            <a:pPr indent="0" marL="0">
              <a:buNone/>
            </a:pPr>
            <a:r>
              <a:rPr lang="en-US" sz="1300" dirty="0">
                <a:solidFill>
                  <a:schemeClr val="tx1"/>
                </a:solidFill>
              </a:rPr>
              <a:t>vulnerabilidades altas o críticas (npm audit)</a:t>
            </a:r>
            <a:endParaRPr lang="en-US" sz="1300" dirty="0"/>
          </a:p>
        </p:txBody>
      </p:sp>
      <p:sp>
        <p:nvSpPr>
          <p:cNvPr id="9" name="Shape 6"/>
          <p:cNvSpPr/>
          <p:nvPr/>
        </p:nvSpPr>
        <p:spPr>
          <a:xfrm>
            <a:off x="3383280" y="4023360"/>
            <a:ext cx="2560320" cy="2011680"/>
          </a:xfrm>
          <a:prstGeom prst="roundRect">
            <a:avLst>
              <a:gd name="adj" fmla="val 5455"/>
            </a:avLst>
          </a:prstGeom>
          <a:solidFill>
            <a:schemeClr val="bg2"/>
          </a:solidFill>
          <a:ln w="12700">
            <a:solidFill>
              <a:schemeClr val="bg2"/>
            </a:solidFill>
            <a:prstDash val="solid"/>
          </a:ln>
        </p:spPr>
      </p:sp>
      <p:sp>
        <p:nvSpPr>
          <p:cNvPr id="10" name="Text 7"/>
          <p:cNvSpPr txBox="1"/>
          <p:nvPr/>
        </p:nvSpPr>
        <p:spPr>
          <a:xfrm>
            <a:off x="3611880" y="4160520"/>
            <a:ext cx="210312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a:t>
            </a:r>
            <a:endParaRPr lang="en-US" sz="4000" dirty="0"/>
          </a:p>
        </p:txBody>
      </p:sp>
      <p:sp>
        <p:nvSpPr>
          <p:cNvPr id="11" name="Text 8"/>
          <p:cNvSpPr txBox="1"/>
          <p:nvPr/>
        </p:nvSpPr>
        <p:spPr>
          <a:xfrm>
            <a:off x="3611880" y="4983480"/>
            <a:ext cx="2103120" cy="914400"/>
          </a:xfrm>
          <a:prstGeom prst="rect">
            <a:avLst/>
          </a:prstGeom>
          <a:noFill/>
          <a:ln/>
        </p:spPr>
        <p:txBody>
          <a:bodyPr wrap="square" lIns="0" tIns="0" rIns="0" bIns="0" rtlCol="0" anchor="t"/>
          <a:lstStyle/>
          <a:p>
            <a:pPr indent="0" marL="0">
              <a:buNone/>
            </a:pPr>
            <a:r>
              <a:rPr lang="en-US" sz="1300" dirty="0">
                <a:solidFill>
                  <a:schemeClr val="tx1"/>
                </a:solidFill>
              </a:rPr>
              <a:t>comando para levantar toda la demo con Docker</a:t>
            </a:r>
            <a:endParaRPr lang="en-US" sz="1300" dirty="0"/>
          </a:p>
        </p:txBody>
      </p:sp>
      <p:sp>
        <p:nvSpPr>
          <p:cNvPr id="12" name="Shape 9"/>
          <p:cNvSpPr/>
          <p:nvPr/>
        </p:nvSpPr>
        <p:spPr>
          <a:xfrm>
            <a:off x="6217920" y="4023360"/>
            <a:ext cx="2560320" cy="2011680"/>
          </a:xfrm>
          <a:prstGeom prst="roundRect">
            <a:avLst>
              <a:gd name="adj" fmla="val 5455"/>
            </a:avLst>
          </a:prstGeom>
          <a:solidFill>
            <a:schemeClr val="bg2"/>
          </a:solidFill>
          <a:ln w="12700">
            <a:solidFill>
              <a:schemeClr val="bg2"/>
            </a:solidFill>
            <a:prstDash val="solid"/>
          </a:ln>
        </p:spPr>
      </p:sp>
      <p:sp>
        <p:nvSpPr>
          <p:cNvPr id="13" name="Text 10"/>
          <p:cNvSpPr txBox="1"/>
          <p:nvPr/>
        </p:nvSpPr>
        <p:spPr>
          <a:xfrm>
            <a:off x="6446520" y="4160520"/>
            <a:ext cx="210312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/docs</a:t>
            </a:r>
            <a:endParaRPr lang="en-US" sz="4000" dirty="0"/>
          </a:p>
        </p:txBody>
      </p:sp>
      <p:sp>
        <p:nvSpPr>
          <p:cNvPr id="14" name="Text 11"/>
          <p:cNvSpPr txBox="1"/>
          <p:nvPr/>
        </p:nvSpPr>
        <p:spPr>
          <a:xfrm>
            <a:off x="6446520" y="4983480"/>
            <a:ext cx="2103120" cy="914400"/>
          </a:xfrm>
          <a:prstGeom prst="rect">
            <a:avLst/>
          </a:prstGeom>
          <a:noFill/>
          <a:ln/>
        </p:spPr>
        <p:txBody>
          <a:bodyPr wrap="square" lIns="0" tIns="0" rIns="0" bIns="0" rtlCol="0" anchor="t"/>
          <a:lstStyle/>
          <a:p>
            <a:pPr indent="0" marL="0">
              <a:buNone/>
            </a:pPr>
            <a:r>
              <a:rPr lang="en-US" sz="1300" dirty="0">
                <a:solidFill>
                  <a:schemeClr val="tx1"/>
                </a:solidFill>
              </a:rPr>
              <a:t>API documentada e interactiva con Swagger</a:t>
            </a:r>
            <a:endParaRPr lang="en-US" sz="1300" dirty="0"/>
          </a:p>
        </p:txBody>
      </p:sp>
      <p:sp>
        <p:nvSpPr>
          <p:cNvPr id="15" name="Shape 12"/>
          <p:cNvSpPr/>
          <p:nvPr/>
        </p:nvSpPr>
        <p:spPr>
          <a:xfrm>
            <a:off x="9052560" y="4023360"/>
            <a:ext cx="2560320" cy="2011680"/>
          </a:xfrm>
          <a:prstGeom prst="roundRect">
            <a:avLst>
              <a:gd name="adj" fmla="val 5455"/>
            </a:avLst>
          </a:prstGeom>
          <a:solidFill>
            <a:schemeClr val="bg2"/>
          </a:solidFill>
          <a:ln w="12700">
            <a:solidFill>
              <a:schemeClr val="bg2"/>
            </a:solidFill>
            <a:prstDash val="solid"/>
          </a:ln>
        </p:spPr>
      </p:sp>
      <p:sp>
        <p:nvSpPr>
          <p:cNvPr id="16" name="Text 13"/>
          <p:cNvSpPr txBox="1"/>
          <p:nvPr/>
        </p:nvSpPr>
        <p:spPr>
          <a:xfrm>
            <a:off x="9281160" y="4160520"/>
            <a:ext cx="2103120" cy="82296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16</a:t>
            </a:r>
            <a:endParaRPr lang="en-US" sz="4000" dirty="0"/>
          </a:p>
        </p:txBody>
      </p:sp>
      <p:sp>
        <p:nvSpPr>
          <p:cNvPr id="17" name="Text 14"/>
          <p:cNvSpPr txBox="1"/>
          <p:nvPr/>
        </p:nvSpPr>
        <p:spPr>
          <a:xfrm>
            <a:off x="9281160" y="4983480"/>
            <a:ext cx="2103120" cy="914400"/>
          </a:xfrm>
          <a:prstGeom prst="rect">
            <a:avLst/>
          </a:prstGeom>
          <a:noFill/>
          <a:ln/>
        </p:spPr>
        <p:txBody>
          <a:bodyPr wrap="square" lIns="0" tIns="0" rIns="0" bIns="0" rtlCol="0" anchor="t"/>
          <a:lstStyle/>
          <a:p>
            <a:pPr indent="0" marL="0">
              <a:buNone/>
            </a:pPr>
            <a:r>
              <a:rPr lang="en-US" sz="1300" dirty="0">
                <a:solidFill>
                  <a:schemeClr val="tx1"/>
                </a:solidFill>
              </a:rPr>
              <a:t>suites e2e: concurrencia, permisos, folio, tarifas…</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Hoja de ruta: integraciones detrás de puertos</a:t>
            </a:r>
            <a:endParaRPr lang="en-US" sz="3200" dirty="0"/>
          </a:p>
        </p:txBody>
      </p:sp>
      <p:sp>
        <p:nvSpPr>
          <p:cNvPr id="3" name="Text 1"/>
          <p:cNvSpPr txBox="1"/>
          <p:nvPr/>
        </p:nvSpPr>
        <p:spPr>
          <a:xfrm>
            <a:off x="548640" y="1143000"/>
            <a:ext cx="11064240" cy="548640"/>
          </a:xfrm>
          <a:prstGeom prst="rect">
            <a:avLst/>
          </a:prstGeom>
          <a:noFill/>
          <a:ln/>
        </p:spPr>
        <p:txBody>
          <a:bodyPr wrap="square" lIns="0" tIns="0" rIns="0" bIns="0" rtlCol="0" anchor="ctr"/>
          <a:lstStyle/>
          <a:p>
            <a:pPr indent="0" marL="0">
              <a:buNone/>
            </a:pPr>
            <a:r>
              <a:rPr lang="en-US" sz="1500" dirty="0">
                <a:solidFill>
                  <a:schemeClr val="accent6"/>
                </a:solidFill>
              </a:rPr>
              <a:t>El dominio define una interfaz (puerto) y cada proveedor es un adaptador intercambiable. Orden: de lo barato y aislado a lo que toca infraestructura externa.</a:t>
            </a:r>
            <a:endParaRPr lang="en-US" sz="1500" dirty="0"/>
          </a:p>
        </p:txBody>
      </p:sp>
      <p:sp>
        <p:nvSpPr>
          <p:cNvPr id="4" name="Shape 2"/>
          <p:cNvSpPr/>
          <p:nvPr/>
        </p:nvSpPr>
        <p:spPr>
          <a:xfrm>
            <a:off x="914400" y="2331720"/>
            <a:ext cx="10058400" cy="0"/>
          </a:xfrm>
          <a:prstGeom prst="line">
            <a:avLst/>
          </a:prstGeom>
          <a:noFill/>
          <a:ln w="25400">
            <a:solidFill>
              <a:srgbClr val="D9DEE7"/>
            </a:solidFill>
            <a:prstDash val="solid"/>
          </a:ln>
        </p:spPr>
      </p:sp>
      <p:sp>
        <p:nvSpPr>
          <p:cNvPr id="5" name="Shape 3"/>
          <p:cNvSpPr/>
          <p:nvPr/>
        </p:nvSpPr>
        <p:spPr>
          <a:xfrm>
            <a:off x="594360" y="1965960"/>
            <a:ext cx="731520" cy="731520"/>
          </a:xfrm>
          <a:prstGeom prst="ellipse">
            <a:avLst/>
          </a:prstGeom>
          <a:solidFill>
            <a:schemeClr val="accent1"/>
          </a:solidFill>
          <a:ln w="38100">
            <a:solidFill>
              <a:schemeClr val="bg1"/>
            </a:solidFill>
            <a:prstDash val="solid"/>
          </a:ln>
        </p:spPr>
      </p:sp>
      <p:sp>
        <p:nvSpPr>
          <p:cNvPr id="6" name="Text 4"/>
          <p:cNvSpPr txBox="1"/>
          <p:nvPr/>
        </p:nvSpPr>
        <p:spPr>
          <a:xfrm>
            <a:off x="594360" y="1965960"/>
            <a:ext cx="731520" cy="731520"/>
          </a:xfrm>
          <a:prstGeom prst="rect">
            <a:avLst/>
          </a:prstGeom>
          <a:no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7" name="Text 5"/>
          <p:cNvSpPr txBox="1"/>
          <p:nvPr/>
        </p:nvSpPr>
        <p:spPr>
          <a:xfrm>
            <a:off x="548640" y="2880360"/>
            <a:ext cx="210312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Refactor hexagonal</a:t>
            </a:r>
            <a:endParaRPr lang="en-US" sz="1700" dirty="0"/>
          </a:p>
        </p:txBody>
      </p:sp>
      <p:sp>
        <p:nvSpPr>
          <p:cNvPr id="8" name="Text 6"/>
          <p:cNvSpPr txBox="1"/>
          <p:nvPr/>
        </p:nvSpPr>
        <p:spPr>
          <a:xfrm>
            <a:off x="548640" y="3611880"/>
            <a:ext cx="2057400" cy="1188720"/>
          </a:xfrm>
          <a:prstGeom prst="rect">
            <a:avLst/>
          </a:prstGeom>
          <a:noFill/>
          <a:ln/>
        </p:spPr>
        <p:txBody>
          <a:bodyPr wrap="square" lIns="0" tIns="0" rIns="0" bIns="0" rtlCol="0" anchor="t"/>
          <a:lstStyle/>
          <a:p>
            <a:pPr indent="0" marL="0">
              <a:buNone/>
            </a:pPr>
            <a:r>
              <a:rPr lang="en-US" sz="1300" dirty="0">
                <a:solidFill>
                  <a:schemeClr val="tx1"/>
                </a:solidFill>
              </a:rPr>
              <a:t>Extraer el resto del dominio como ya está el motor de tarifas</a:t>
            </a:r>
            <a:endParaRPr lang="en-US" sz="1300" dirty="0"/>
          </a:p>
        </p:txBody>
      </p:sp>
      <p:sp>
        <p:nvSpPr>
          <p:cNvPr id="9" name="Shape 7"/>
          <p:cNvSpPr/>
          <p:nvPr/>
        </p:nvSpPr>
        <p:spPr>
          <a:xfrm>
            <a:off x="2862072" y="1965960"/>
            <a:ext cx="731520" cy="731520"/>
          </a:xfrm>
          <a:prstGeom prst="ellipse">
            <a:avLst/>
          </a:prstGeom>
          <a:solidFill>
            <a:schemeClr val="tx2"/>
          </a:solidFill>
          <a:ln w="38100">
            <a:solidFill>
              <a:schemeClr val="bg1"/>
            </a:solidFill>
            <a:prstDash val="solid"/>
          </a:ln>
        </p:spPr>
      </p:sp>
      <p:sp>
        <p:nvSpPr>
          <p:cNvPr id="10" name="Text 8"/>
          <p:cNvSpPr txBox="1"/>
          <p:nvPr/>
        </p:nvSpPr>
        <p:spPr>
          <a:xfrm>
            <a:off x="2862072" y="19659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2816352" y="2880360"/>
            <a:ext cx="210312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POS de Lazaro al folio</a:t>
            </a:r>
            <a:endParaRPr lang="en-US" sz="1700" dirty="0"/>
          </a:p>
        </p:txBody>
      </p:sp>
      <p:sp>
        <p:nvSpPr>
          <p:cNvPr id="12" name="Text 10"/>
          <p:cNvSpPr txBox="1"/>
          <p:nvPr/>
        </p:nvSpPr>
        <p:spPr>
          <a:xfrm>
            <a:off x="2816352" y="3611880"/>
            <a:ext cx="2057400" cy="1188720"/>
          </a:xfrm>
          <a:prstGeom prst="rect">
            <a:avLst/>
          </a:prstGeom>
          <a:noFill/>
          <a:ln/>
        </p:spPr>
        <p:txBody>
          <a:bodyPr wrap="square" lIns="0" tIns="0" rIns="0" bIns="0" rtlCol="0" anchor="t"/>
          <a:lstStyle/>
          <a:p>
            <a:pPr indent="0" marL="0">
              <a:buNone/>
            </a:pPr>
            <a:r>
              <a:rPr lang="en-US" sz="1300" dirty="0">
                <a:solidFill>
                  <a:schemeClr val="tx1"/>
                </a:solidFill>
              </a:rPr>
              <a:t>"Cargar a la habitación" del restaurante llega solo</a:t>
            </a:r>
            <a:endParaRPr lang="en-US" sz="1300" dirty="0"/>
          </a:p>
        </p:txBody>
      </p:sp>
      <p:sp>
        <p:nvSpPr>
          <p:cNvPr id="13" name="Text 11"/>
          <p:cNvSpPr txBox="1"/>
          <p:nvPr/>
        </p:nvSpPr>
        <p:spPr>
          <a:xfrm>
            <a:off x="2816352" y="4846320"/>
            <a:ext cx="2103120" cy="64008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IPuntoDeVenta</a:t>
            </a:r>
            <a:endParaRPr lang="en-US" sz="1100" dirty="0"/>
          </a:p>
        </p:txBody>
      </p:sp>
      <p:sp>
        <p:nvSpPr>
          <p:cNvPr id="14" name="Shape 12"/>
          <p:cNvSpPr/>
          <p:nvPr/>
        </p:nvSpPr>
        <p:spPr>
          <a:xfrm>
            <a:off x="5129784" y="1965960"/>
            <a:ext cx="731520" cy="731520"/>
          </a:xfrm>
          <a:prstGeom prst="ellipse">
            <a:avLst/>
          </a:prstGeom>
          <a:solidFill>
            <a:schemeClr val="tx2"/>
          </a:solidFill>
          <a:ln w="38100">
            <a:solidFill>
              <a:schemeClr val="bg1"/>
            </a:solidFill>
            <a:prstDash val="solid"/>
          </a:ln>
        </p:spPr>
      </p:sp>
      <p:sp>
        <p:nvSpPr>
          <p:cNvPr id="15" name="Text 13"/>
          <p:cNvSpPr txBox="1"/>
          <p:nvPr/>
        </p:nvSpPr>
        <p:spPr>
          <a:xfrm>
            <a:off x="5129784" y="19659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4"/>
          <p:cNvSpPr txBox="1"/>
          <p:nvPr/>
        </p:nvSpPr>
        <p:spPr>
          <a:xfrm>
            <a:off x="5084064" y="2880360"/>
            <a:ext cx="210312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Reserva web + pagos</a:t>
            </a:r>
            <a:endParaRPr lang="en-US" sz="1700" dirty="0"/>
          </a:p>
        </p:txBody>
      </p:sp>
      <p:sp>
        <p:nvSpPr>
          <p:cNvPr id="17" name="Text 15"/>
          <p:cNvSpPr txBox="1"/>
          <p:nvPr/>
        </p:nvSpPr>
        <p:spPr>
          <a:xfrm>
            <a:off x="5084064" y="3611880"/>
            <a:ext cx="2057400" cy="1188720"/>
          </a:xfrm>
          <a:prstGeom prst="rect">
            <a:avLst/>
          </a:prstGeom>
          <a:noFill/>
          <a:ln/>
        </p:spPr>
        <p:txBody>
          <a:bodyPr wrap="square" lIns="0" tIns="0" rIns="0" bIns="0" rtlCol="0" anchor="t"/>
          <a:lstStyle/>
          <a:p>
            <a:pPr indent="0" marL="0">
              <a:buNone/>
            </a:pPr>
            <a:r>
              <a:rPr lang="en-US" sz="1300" dirty="0">
                <a:solidFill>
                  <a:schemeClr val="tx1"/>
                </a:solidFill>
              </a:rPr>
              <a:t>Anticipo 30 % con Wompi (PSE, Nequi, tarjeta) confirmado por webhook</a:t>
            </a:r>
            <a:endParaRPr lang="en-US" sz="1300" dirty="0"/>
          </a:p>
        </p:txBody>
      </p:sp>
      <p:sp>
        <p:nvSpPr>
          <p:cNvPr id="18" name="Text 16"/>
          <p:cNvSpPr txBox="1"/>
          <p:nvPr/>
        </p:nvSpPr>
        <p:spPr>
          <a:xfrm>
            <a:off x="5084064" y="4846320"/>
            <a:ext cx="2103120" cy="64008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IPasarelaDePagos</a:t>
            </a:r>
            <a:endParaRPr lang="en-US" sz="1100" dirty="0"/>
          </a:p>
        </p:txBody>
      </p:sp>
      <p:sp>
        <p:nvSpPr>
          <p:cNvPr id="19" name="Shape 17"/>
          <p:cNvSpPr/>
          <p:nvPr/>
        </p:nvSpPr>
        <p:spPr>
          <a:xfrm>
            <a:off x="7397496" y="1965960"/>
            <a:ext cx="731520" cy="731520"/>
          </a:xfrm>
          <a:prstGeom prst="ellipse">
            <a:avLst/>
          </a:prstGeom>
          <a:solidFill>
            <a:schemeClr val="tx2"/>
          </a:solidFill>
          <a:ln w="38100">
            <a:solidFill>
              <a:schemeClr val="bg1"/>
            </a:solidFill>
            <a:prstDash val="solid"/>
          </a:ln>
        </p:spPr>
      </p:sp>
      <p:sp>
        <p:nvSpPr>
          <p:cNvPr id="20" name="Text 18"/>
          <p:cNvSpPr txBox="1"/>
          <p:nvPr/>
        </p:nvSpPr>
        <p:spPr>
          <a:xfrm>
            <a:off x="7397496" y="19659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9"/>
          <p:cNvSpPr txBox="1"/>
          <p:nvPr/>
        </p:nvSpPr>
        <p:spPr>
          <a:xfrm>
            <a:off x="7351776" y="2880360"/>
            <a:ext cx="210312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OTAs y WhatsApp</a:t>
            </a:r>
            <a:endParaRPr lang="en-US" sz="1700" dirty="0"/>
          </a:p>
        </p:txBody>
      </p:sp>
      <p:sp>
        <p:nvSpPr>
          <p:cNvPr id="22" name="Text 20"/>
          <p:cNvSpPr txBox="1"/>
          <p:nvPr/>
        </p:nvSpPr>
        <p:spPr>
          <a:xfrm>
            <a:off x="7351776" y="3611880"/>
            <a:ext cx="2057400" cy="1188720"/>
          </a:xfrm>
          <a:prstGeom prst="rect">
            <a:avLst/>
          </a:prstGeom>
          <a:noFill/>
          <a:ln/>
        </p:spPr>
        <p:txBody>
          <a:bodyPr wrap="square" lIns="0" tIns="0" rIns="0" bIns="0" rtlCol="0" anchor="t"/>
          <a:lstStyle/>
          <a:p>
            <a:pPr indent="0" marL="0">
              <a:buNone/>
            </a:pPr>
            <a:r>
              <a:rPr lang="en-US" sz="1300" dirty="0">
                <a:solidFill>
                  <a:schemeClr val="tx1"/>
                </a:solidFill>
              </a:rPr>
              <a:t>Booking, Expedia, Airbnb vía Channex; confirmaciones por WhatsApp</a:t>
            </a:r>
            <a:endParaRPr lang="en-US" sz="1300" dirty="0"/>
          </a:p>
        </p:txBody>
      </p:sp>
      <p:sp>
        <p:nvSpPr>
          <p:cNvPr id="23" name="Text 21"/>
          <p:cNvSpPr txBox="1"/>
          <p:nvPr/>
        </p:nvSpPr>
        <p:spPr>
          <a:xfrm>
            <a:off x="7351776" y="4846320"/>
            <a:ext cx="2103120" cy="64008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IGestorDeCanales · INotificador</a:t>
            </a:r>
            <a:endParaRPr lang="en-US" sz="1100" dirty="0"/>
          </a:p>
        </p:txBody>
      </p:sp>
      <p:sp>
        <p:nvSpPr>
          <p:cNvPr id="24" name="Shape 22"/>
          <p:cNvSpPr/>
          <p:nvPr/>
        </p:nvSpPr>
        <p:spPr>
          <a:xfrm>
            <a:off x="9665208" y="1965960"/>
            <a:ext cx="731520" cy="731520"/>
          </a:xfrm>
          <a:prstGeom prst="ellipse">
            <a:avLst/>
          </a:prstGeom>
          <a:solidFill>
            <a:schemeClr val="tx2"/>
          </a:solidFill>
          <a:ln w="38100">
            <a:solidFill>
              <a:schemeClr val="bg1"/>
            </a:solidFill>
            <a:prstDash val="solid"/>
          </a:ln>
        </p:spPr>
      </p:sp>
      <p:sp>
        <p:nvSpPr>
          <p:cNvPr id="25" name="Text 23"/>
          <p:cNvSpPr txBox="1"/>
          <p:nvPr/>
        </p:nvSpPr>
        <p:spPr>
          <a:xfrm>
            <a:off x="9665208" y="196596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Text 24"/>
          <p:cNvSpPr txBox="1"/>
          <p:nvPr/>
        </p:nvSpPr>
        <p:spPr>
          <a:xfrm>
            <a:off x="9619488" y="2880360"/>
            <a:ext cx="2103120" cy="6858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Producción</a:t>
            </a:r>
            <a:endParaRPr lang="en-US" sz="1700" dirty="0"/>
          </a:p>
        </p:txBody>
      </p:sp>
      <p:sp>
        <p:nvSpPr>
          <p:cNvPr id="27" name="Text 25"/>
          <p:cNvSpPr txBox="1"/>
          <p:nvPr/>
        </p:nvSpPr>
        <p:spPr>
          <a:xfrm>
            <a:off x="9619488" y="3611880"/>
            <a:ext cx="2057400" cy="1188720"/>
          </a:xfrm>
          <a:prstGeom prst="rect">
            <a:avLst/>
          </a:prstGeom>
          <a:noFill/>
          <a:ln/>
        </p:spPr>
        <p:txBody>
          <a:bodyPr wrap="square" lIns="0" tIns="0" rIns="0" bIns="0" rtlCol="0" anchor="t"/>
          <a:lstStyle/>
          <a:p>
            <a:pPr indent="0" marL="0">
              <a:buNone/>
            </a:pPr>
            <a:r>
              <a:rPr lang="en-US" sz="1300" dirty="0">
                <a:solidFill>
                  <a:schemeClr val="tx1"/>
                </a:solidFill>
              </a:rPr>
              <a:t>Despliegue (DigitalOcean), observabilidad y multi-hotel</a:t>
            </a:r>
            <a:endParaRPr lang="en-US" sz="13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Decisiones para validar con el empresario</a:t>
            </a:r>
            <a:endParaRPr lang="en-US" sz="3200" dirty="0"/>
          </a:p>
        </p:txBody>
      </p:sp>
      <p:sp>
        <p:nvSpPr>
          <p:cNvPr id="3" name="Shape 1"/>
          <p:cNvSpPr/>
          <p:nvPr/>
        </p:nvSpPr>
        <p:spPr>
          <a:xfrm>
            <a:off x="548640" y="1325880"/>
            <a:ext cx="7680960" cy="777240"/>
          </a:xfrm>
          <a:prstGeom prst="roundRect">
            <a:avLst>
              <a:gd name="adj" fmla="val 14118"/>
            </a:avLst>
          </a:prstGeom>
          <a:solidFill>
            <a:schemeClr val="bg2"/>
          </a:solidFill>
          <a:ln w="12700">
            <a:solidFill>
              <a:schemeClr val="bg2"/>
            </a:solidFill>
            <a:prstDash val="solid"/>
          </a:ln>
        </p:spPr>
      </p:sp>
      <p:sp>
        <p:nvSpPr>
          <p:cNvPr id="4" name="Text 2"/>
          <p:cNvSpPr txBox="1"/>
          <p:nvPr/>
        </p:nvSpPr>
        <p:spPr>
          <a:xfrm>
            <a:off x="685800" y="1444752"/>
            <a:ext cx="54864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371600" y="1325880"/>
            <a:ext cx="6675120" cy="777240"/>
          </a:xfrm>
          <a:prstGeom prst="rect">
            <a:avLst/>
          </a:prstGeom>
          <a:noFill/>
          <a:ln/>
        </p:spPr>
        <p:txBody>
          <a:bodyPr wrap="square" lIns="0" tIns="0" rIns="0" bIns="0" rtlCol="0" anchor="ctr"/>
          <a:lstStyle/>
          <a:p>
            <a:pPr indent="0" marL="0">
              <a:buNone/>
            </a:pPr>
            <a:r>
              <a:rPr lang="en-US" sz="1500" dirty="0">
                <a:solidFill>
                  <a:schemeClr val="tx1"/>
                </a:solidFill>
              </a:rPr>
              <a:t>¿La cancelación gratuita hasta 48 h con penalidad de 1 noche sirve, o cada hotel define la suya?</a:t>
            </a:r>
            <a:endParaRPr lang="en-US" sz="1500" dirty="0"/>
          </a:p>
        </p:txBody>
      </p:sp>
      <p:sp>
        <p:nvSpPr>
          <p:cNvPr id="6" name="Shape 4"/>
          <p:cNvSpPr/>
          <p:nvPr/>
        </p:nvSpPr>
        <p:spPr>
          <a:xfrm>
            <a:off x="548640" y="2286000"/>
            <a:ext cx="7680960" cy="777240"/>
          </a:xfrm>
          <a:prstGeom prst="roundRect">
            <a:avLst>
              <a:gd name="adj" fmla="val 14118"/>
            </a:avLst>
          </a:prstGeom>
          <a:solidFill>
            <a:schemeClr val="bg2"/>
          </a:solidFill>
          <a:ln w="12700">
            <a:solidFill>
              <a:schemeClr val="bg2"/>
            </a:solidFill>
            <a:prstDash val="solid"/>
          </a:ln>
        </p:spPr>
      </p:sp>
      <p:sp>
        <p:nvSpPr>
          <p:cNvPr id="7" name="Text 5"/>
          <p:cNvSpPr txBox="1"/>
          <p:nvPr/>
        </p:nvSpPr>
        <p:spPr>
          <a:xfrm>
            <a:off x="685800" y="2404872"/>
            <a:ext cx="54864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sp>
        <p:nvSpPr>
          <p:cNvPr id="8" name="Text 6"/>
          <p:cNvSpPr txBox="1"/>
          <p:nvPr/>
        </p:nvSpPr>
        <p:spPr>
          <a:xfrm>
            <a:off x="1371600" y="2286000"/>
            <a:ext cx="6675120" cy="777240"/>
          </a:xfrm>
          <a:prstGeom prst="rect">
            <a:avLst/>
          </a:prstGeom>
          <a:noFill/>
          <a:ln/>
        </p:spPr>
        <p:txBody>
          <a:bodyPr wrap="square" lIns="0" tIns="0" rIns="0" bIns="0" rtlCol="0" anchor="ctr"/>
          <a:lstStyle/>
          <a:p>
            <a:pPr indent="0" marL="0">
              <a:buNone/>
            </a:pPr>
            <a:r>
              <a:rPr lang="en-US" sz="1500" dirty="0">
                <a:solidFill>
                  <a:schemeClr val="tx1"/>
                </a:solidFill>
              </a:rPr>
              <a:t>¿Los multiplicadores de temporada (×1,15 / ×1,30) son razonables, o manejan precios fijos por temporada?</a:t>
            </a:r>
            <a:endParaRPr lang="en-US" sz="1500" dirty="0"/>
          </a:p>
        </p:txBody>
      </p:sp>
      <p:sp>
        <p:nvSpPr>
          <p:cNvPr id="9" name="Shape 7"/>
          <p:cNvSpPr/>
          <p:nvPr/>
        </p:nvSpPr>
        <p:spPr>
          <a:xfrm>
            <a:off x="548640" y="3246120"/>
            <a:ext cx="7680960" cy="777240"/>
          </a:xfrm>
          <a:prstGeom prst="roundRect">
            <a:avLst>
              <a:gd name="adj" fmla="val 14118"/>
            </a:avLst>
          </a:prstGeom>
          <a:solidFill>
            <a:schemeClr val="bg2"/>
          </a:solidFill>
          <a:ln w="12700">
            <a:solidFill>
              <a:schemeClr val="bg2"/>
            </a:solidFill>
            <a:prstDash val="solid"/>
          </a:ln>
        </p:spPr>
      </p:sp>
      <p:sp>
        <p:nvSpPr>
          <p:cNvPr id="10" name="Text 8"/>
          <p:cNvSpPr txBox="1"/>
          <p:nvPr/>
        </p:nvSpPr>
        <p:spPr>
          <a:xfrm>
            <a:off x="685800" y="3364992"/>
            <a:ext cx="54864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11" name="Text 9"/>
          <p:cNvSpPr txBox="1"/>
          <p:nvPr/>
        </p:nvSpPr>
        <p:spPr>
          <a:xfrm>
            <a:off x="1371600" y="3246120"/>
            <a:ext cx="6675120" cy="777240"/>
          </a:xfrm>
          <a:prstGeom prst="rect">
            <a:avLst/>
          </a:prstGeom>
          <a:noFill/>
          <a:ln/>
        </p:spPr>
        <p:txBody>
          <a:bodyPr wrap="square" lIns="0" tIns="0" rIns="0" bIns="0" rtlCol="0" anchor="ctr"/>
          <a:lstStyle/>
          <a:p>
            <a:pPr indent="0" marL="0">
              <a:buNone/>
            </a:pPr>
            <a:r>
              <a:rPr lang="en-US" sz="1500" dirty="0">
                <a:solidFill>
                  <a:schemeClr val="tx1"/>
                </a:solidFill>
              </a:rPr>
              <a:t>Salida anticipada: ¿se cobran las noches usadas o todas las reservadas?</a:t>
            </a:r>
            <a:endParaRPr lang="en-US" sz="1500" dirty="0"/>
          </a:p>
        </p:txBody>
      </p:sp>
      <p:sp>
        <p:nvSpPr>
          <p:cNvPr id="12" name="Shape 10"/>
          <p:cNvSpPr/>
          <p:nvPr/>
        </p:nvSpPr>
        <p:spPr>
          <a:xfrm>
            <a:off x="548640" y="4206240"/>
            <a:ext cx="7680960" cy="777240"/>
          </a:xfrm>
          <a:prstGeom prst="roundRect">
            <a:avLst>
              <a:gd name="adj" fmla="val 14118"/>
            </a:avLst>
          </a:prstGeom>
          <a:solidFill>
            <a:schemeClr val="bg2"/>
          </a:solidFill>
          <a:ln w="12700">
            <a:solidFill>
              <a:schemeClr val="bg2"/>
            </a:solidFill>
            <a:prstDash val="solid"/>
          </a:ln>
        </p:spPr>
      </p:sp>
      <p:sp>
        <p:nvSpPr>
          <p:cNvPr id="13" name="Text 11"/>
          <p:cNvSpPr txBox="1"/>
          <p:nvPr/>
        </p:nvSpPr>
        <p:spPr>
          <a:xfrm>
            <a:off x="685800" y="4325112"/>
            <a:ext cx="54864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14" name="Text 12"/>
          <p:cNvSpPr txBox="1"/>
          <p:nvPr/>
        </p:nvSpPr>
        <p:spPr>
          <a:xfrm>
            <a:off x="1371600" y="4206240"/>
            <a:ext cx="6675120" cy="777240"/>
          </a:xfrm>
          <a:prstGeom prst="rect">
            <a:avLst/>
          </a:prstGeom>
          <a:noFill/>
          <a:ln/>
        </p:spPr>
        <p:txBody>
          <a:bodyPr wrap="square" lIns="0" tIns="0" rIns="0" bIns="0" rtlCol="0" anchor="ctr"/>
          <a:lstStyle/>
          <a:p>
            <a:pPr indent="0" marL="0">
              <a:buNone/>
            </a:pPr>
            <a:r>
              <a:rPr lang="en-US" sz="1500" dirty="0">
                <a:solidFill>
                  <a:schemeClr val="tx1"/>
                </a:solidFill>
              </a:rPr>
              <a:t>¿Qué porcentaje de anticipo exigen hoy sus clientes, si exigen alguno?</a:t>
            </a:r>
            <a:endParaRPr lang="en-US" sz="1500" dirty="0"/>
          </a:p>
        </p:txBody>
      </p:sp>
      <p:sp>
        <p:nvSpPr>
          <p:cNvPr id="15" name="Shape 13"/>
          <p:cNvSpPr/>
          <p:nvPr/>
        </p:nvSpPr>
        <p:spPr>
          <a:xfrm>
            <a:off x="548640" y="5166360"/>
            <a:ext cx="7680960" cy="777240"/>
          </a:xfrm>
          <a:prstGeom prst="roundRect">
            <a:avLst>
              <a:gd name="adj" fmla="val 14118"/>
            </a:avLst>
          </a:prstGeom>
          <a:solidFill>
            <a:schemeClr val="bg2"/>
          </a:solidFill>
          <a:ln w="12700">
            <a:solidFill>
              <a:schemeClr val="bg2"/>
            </a:solidFill>
            <a:prstDash val="solid"/>
          </a:ln>
        </p:spPr>
      </p:sp>
      <p:sp>
        <p:nvSpPr>
          <p:cNvPr id="16" name="Text 14"/>
          <p:cNvSpPr txBox="1"/>
          <p:nvPr/>
        </p:nvSpPr>
        <p:spPr>
          <a:xfrm>
            <a:off x="685800" y="5285232"/>
            <a:ext cx="54864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5</a:t>
            </a:r>
            <a:endParaRPr lang="en-US" sz="2400" dirty="0"/>
          </a:p>
        </p:txBody>
      </p:sp>
      <p:sp>
        <p:nvSpPr>
          <p:cNvPr id="17" name="Text 15"/>
          <p:cNvSpPr txBox="1"/>
          <p:nvPr/>
        </p:nvSpPr>
        <p:spPr>
          <a:xfrm>
            <a:off x="1371600" y="5166360"/>
            <a:ext cx="6675120" cy="777240"/>
          </a:xfrm>
          <a:prstGeom prst="rect">
            <a:avLst/>
          </a:prstGeom>
          <a:noFill/>
          <a:ln/>
        </p:spPr>
        <p:txBody>
          <a:bodyPr wrap="square" lIns="0" tIns="0" rIns="0" bIns="0" rtlCol="0" anchor="ctr"/>
          <a:lstStyle/>
          <a:p>
            <a:pPr indent="0" marL="0">
              <a:buNone/>
            </a:pPr>
            <a:r>
              <a:rPr lang="en-US" sz="1500" dirty="0">
                <a:solidFill>
                  <a:schemeClr val="tx1"/>
                </a:solidFill>
              </a:rPr>
              <a:t>IVA y exención para extranjeros: confirmar con el contador cómo lo factura hoy Lazaro.</a:t>
            </a:r>
            <a:endParaRPr lang="en-US" sz="1500" dirty="0"/>
          </a:p>
        </p:txBody>
      </p:sp>
      <p:sp>
        <p:nvSpPr>
          <p:cNvPr id="18" name="Shape 16"/>
          <p:cNvSpPr/>
          <p:nvPr/>
        </p:nvSpPr>
        <p:spPr>
          <a:xfrm>
            <a:off x="8595360" y="1325880"/>
            <a:ext cx="3017520" cy="4434840"/>
          </a:xfrm>
          <a:prstGeom prst="roundRect">
            <a:avLst>
              <a:gd name="adj" fmla="val 3636"/>
            </a:avLst>
          </a:prstGeom>
          <a:solidFill>
            <a:schemeClr val="tx2"/>
          </a:solidFill>
          <a:ln w="12700">
            <a:solidFill>
              <a:schemeClr val="tx2"/>
            </a:solidFill>
            <a:prstDash val="solid"/>
          </a:ln>
        </p:spPr>
      </p:sp>
      <p:sp>
        <p:nvSpPr>
          <p:cNvPr id="19" name="Shape 17"/>
          <p:cNvSpPr/>
          <p:nvPr/>
        </p:nvSpPr>
        <p:spPr>
          <a:xfrm>
            <a:off x="8869680" y="1600200"/>
            <a:ext cx="640080" cy="640080"/>
          </a:xfrm>
          <a:prstGeom prst="ellipse">
            <a:avLst/>
          </a:prstGeom>
          <a:solidFill>
            <a:schemeClr val="accent1"/>
          </a:solidFill>
          <a:ln w="12700">
            <a:solidFill>
              <a:schemeClr val="accent1"/>
            </a:solidFill>
            <a:prstDash val="solid"/>
          </a:ln>
        </p:spPr>
      </p:sp>
      <p:pic>
        <p:nvPicPr>
          <p:cNvPr id="20" name="Image 0" descr="preencoded.png">    </p:cNvPr>
          <p:cNvPicPr>
            <a:picLocks noChangeAspect="1"/>
          </p:cNvPicPr>
          <p:nvPr/>
        </p:nvPicPr>
        <p:blipFill>
          <a:blip r:embed="rId1"/>
          <a:stretch>
            <a:fillRect/>
          </a:stretch>
        </p:blipFill>
        <p:spPr>
          <a:xfrm>
            <a:off x="9010498" y="1741018"/>
            <a:ext cx="358445" cy="358445"/>
          </a:xfrm>
          <a:prstGeom prst="rect">
            <a:avLst/>
          </a:prstGeom>
        </p:spPr>
      </p:pic>
      <p:sp>
        <p:nvSpPr>
          <p:cNvPr id="21" name="Text 18"/>
          <p:cNvSpPr txBox="1"/>
          <p:nvPr/>
        </p:nvSpPr>
        <p:spPr>
          <a:xfrm>
            <a:off x="8869680" y="2468880"/>
            <a:ext cx="2560320" cy="3108960"/>
          </a:xfrm>
          <a:prstGeom prst="rect">
            <a:avLst/>
          </a:prstGeom>
          <a:noFill/>
          <a:ln/>
        </p:spPr>
        <p:txBody>
          <a:bodyPr wrap="square" lIns="0" tIns="0" rIns="0" bIns="0" rtlCol="0" anchor="t"/>
          <a:lstStyle/>
          <a:p>
            <a:pPr indent="0" marL="0">
              <a:buNone/>
            </a:pPr>
            <a:r>
              <a:rPr lang="en-US" sz="1500" dirty="0">
                <a:solidFill>
                  <a:schemeClr val="bg1"/>
                </a:solidFill>
              </a:rPr>
              <a:t>Todos los valores (horas, porcentajes, montos) son políticas configurables por hotel, no reglas fijas. Hoy viven en un solo archivo: hotel/politicas.ts.</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Recorrido de la demo (15 minutos)</a:t>
            </a:r>
            <a:endParaRPr lang="en-US" sz="3200" dirty="0"/>
          </a:p>
        </p:txBody>
      </p:sp>
      <p:sp>
        <p:nvSpPr>
          <p:cNvPr id="3" name="Shape 1"/>
          <p:cNvSpPr/>
          <p:nvPr/>
        </p:nvSpPr>
        <p:spPr>
          <a:xfrm>
            <a:off x="548640" y="1371600"/>
            <a:ext cx="548640" cy="548640"/>
          </a:xfrm>
          <a:prstGeom prst="ellipse">
            <a:avLst/>
          </a:prstGeom>
          <a:solidFill>
            <a:schemeClr val="tx2"/>
          </a:solidFill>
          <a:ln w="12700">
            <a:solidFill>
              <a:schemeClr val="tx2"/>
            </a:solidFill>
            <a:prstDash val="solid"/>
          </a:ln>
        </p:spPr>
      </p:sp>
      <p:sp>
        <p:nvSpPr>
          <p:cNvPr id="4" name="Text 2"/>
          <p:cNvSpPr txBox="1"/>
          <p:nvPr/>
        </p:nvSpPr>
        <p:spPr>
          <a:xfrm>
            <a:off x="548640" y="137160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5" name="Text 3"/>
          <p:cNvSpPr txBox="1"/>
          <p:nvPr/>
        </p:nvSpPr>
        <p:spPr>
          <a:xfrm>
            <a:off x="1280160" y="1371600"/>
            <a:ext cx="3931920" cy="548640"/>
          </a:xfrm>
          <a:prstGeom prst="rect">
            <a:avLst/>
          </a:prstGeom>
          <a:noFill/>
          <a:ln/>
        </p:spPr>
        <p:txBody>
          <a:bodyPr wrap="square" lIns="0" tIns="0" rIns="0" bIns="0" rtlCol="0" anchor="ctr"/>
          <a:lstStyle/>
          <a:p>
            <a:pPr indent="0" marL="0">
              <a:buNone/>
            </a:pPr>
            <a:r>
              <a:rPr lang="en-US" sz="1500" dirty="0">
                <a:solidFill>
                  <a:schemeClr val="tx1"/>
                </a:solidFill>
              </a:rPr>
              <a:t>El problema</a:t>
            </a:r>
            <a:endParaRPr lang="en-US" sz="1500" dirty="0"/>
          </a:p>
        </p:txBody>
      </p:sp>
      <p:sp>
        <p:nvSpPr>
          <p:cNvPr id="6" name="Text 4"/>
          <p:cNvSpPr txBox="1"/>
          <p:nvPr/>
        </p:nvSpPr>
        <p:spPr>
          <a:xfrm>
            <a:off x="5120640" y="1371600"/>
            <a:ext cx="822960" cy="548640"/>
          </a:xfrm>
          <a:prstGeom prst="rect">
            <a:avLst/>
          </a:prstGeom>
          <a:noFill/>
          <a:ln/>
        </p:spPr>
        <p:txBody>
          <a:bodyPr wrap="square" lIns="0" tIns="0" rIns="0" bIns="0" rtlCol="0" anchor="ctr"/>
          <a:lstStyle/>
          <a:p>
            <a:pPr algn="r" indent="0" marL="0">
              <a:buNone/>
            </a:pPr>
            <a:r>
              <a:rPr lang="en-US" sz="1300" dirty="0">
                <a:solidFill>
                  <a:schemeClr val="accent6"/>
                </a:solidFill>
              </a:rPr>
              <a:t>1 min</a:t>
            </a:r>
            <a:endParaRPr lang="en-US" sz="1300" dirty="0"/>
          </a:p>
        </p:txBody>
      </p:sp>
      <p:sp>
        <p:nvSpPr>
          <p:cNvPr id="7" name="Shape 5"/>
          <p:cNvSpPr/>
          <p:nvPr/>
        </p:nvSpPr>
        <p:spPr>
          <a:xfrm>
            <a:off x="548640" y="2286000"/>
            <a:ext cx="548640" cy="548640"/>
          </a:xfrm>
          <a:prstGeom prst="ellipse">
            <a:avLst/>
          </a:prstGeom>
          <a:solidFill>
            <a:schemeClr val="tx2"/>
          </a:solidFill>
          <a:ln w="12700">
            <a:solidFill>
              <a:schemeClr val="tx2"/>
            </a:solidFill>
            <a:prstDash val="solid"/>
          </a:ln>
        </p:spPr>
      </p:sp>
      <p:sp>
        <p:nvSpPr>
          <p:cNvPr id="8" name="Text 6"/>
          <p:cNvSpPr txBox="1"/>
          <p:nvPr/>
        </p:nvSpPr>
        <p:spPr>
          <a:xfrm>
            <a:off x="548640" y="228600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9" name="Text 7"/>
          <p:cNvSpPr txBox="1"/>
          <p:nvPr/>
        </p:nvSpPr>
        <p:spPr>
          <a:xfrm>
            <a:off x="1280160" y="2286000"/>
            <a:ext cx="3931920" cy="548640"/>
          </a:xfrm>
          <a:prstGeom prst="rect">
            <a:avLst/>
          </a:prstGeom>
          <a:noFill/>
          <a:ln/>
        </p:spPr>
        <p:txBody>
          <a:bodyPr wrap="square" lIns="0" tIns="0" rIns="0" bIns="0" rtlCol="0" anchor="ctr"/>
          <a:lstStyle/>
          <a:p>
            <a:pPr indent="0" marL="0">
              <a:buNone/>
            </a:pPr>
            <a:r>
              <a:rPr lang="en-US" sz="1500" dirty="0">
                <a:solidFill>
                  <a:schemeClr val="tx1"/>
                </a:solidFill>
              </a:rPr>
              <a:t>El día del recepcionista: panel, limpieza, check-in</a:t>
            </a:r>
            <a:endParaRPr lang="en-US" sz="1500" dirty="0"/>
          </a:p>
        </p:txBody>
      </p:sp>
      <p:sp>
        <p:nvSpPr>
          <p:cNvPr id="10" name="Text 8"/>
          <p:cNvSpPr txBox="1"/>
          <p:nvPr/>
        </p:nvSpPr>
        <p:spPr>
          <a:xfrm>
            <a:off x="5120640" y="2286000"/>
            <a:ext cx="822960" cy="548640"/>
          </a:xfrm>
          <a:prstGeom prst="rect">
            <a:avLst/>
          </a:prstGeom>
          <a:noFill/>
          <a:ln/>
        </p:spPr>
        <p:txBody>
          <a:bodyPr wrap="square" lIns="0" tIns="0" rIns="0" bIns="0" rtlCol="0" anchor="ctr"/>
          <a:lstStyle/>
          <a:p>
            <a:pPr algn="r" indent="0" marL="0">
              <a:buNone/>
            </a:pPr>
            <a:r>
              <a:rPr lang="en-US" sz="1300" dirty="0">
                <a:solidFill>
                  <a:schemeClr val="accent6"/>
                </a:solidFill>
              </a:rPr>
              <a:t>2 min</a:t>
            </a:r>
            <a:endParaRPr lang="en-US" sz="1300" dirty="0"/>
          </a:p>
        </p:txBody>
      </p:sp>
      <p:sp>
        <p:nvSpPr>
          <p:cNvPr id="11" name="Shape 9"/>
          <p:cNvSpPr/>
          <p:nvPr/>
        </p:nvSpPr>
        <p:spPr>
          <a:xfrm>
            <a:off x="548640" y="3200400"/>
            <a:ext cx="548640" cy="548640"/>
          </a:xfrm>
          <a:prstGeom prst="ellipse">
            <a:avLst/>
          </a:prstGeom>
          <a:solidFill>
            <a:schemeClr val="tx2"/>
          </a:solidFill>
          <a:ln w="12700">
            <a:solidFill>
              <a:schemeClr val="tx2"/>
            </a:solidFill>
            <a:prstDash val="solid"/>
          </a:ln>
        </p:spPr>
      </p:sp>
      <p:sp>
        <p:nvSpPr>
          <p:cNvPr id="12" name="Text 10"/>
          <p:cNvSpPr txBox="1"/>
          <p:nvPr/>
        </p:nvSpPr>
        <p:spPr>
          <a:xfrm>
            <a:off x="548640" y="320040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3" name="Text 11"/>
          <p:cNvSpPr txBox="1"/>
          <p:nvPr/>
        </p:nvSpPr>
        <p:spPr>
          <a:xfrm>
            <a:off x="1280160" y="3200400"/>
            <a:ext cx="3931920" cy="548640"/>
          </a:xfrm>
          <a:prstGeom prst="rect">
            <a:avLst/>
          </a:prstGeom>
          <a:noFill/>
          <a:ln/>
        </p:spPr>
        <p:txBody>
          <a:bodyPr wrap="square" lIns="0" tIns="0" rIns="0" bIns="0" rtlCol="0" anchor="ctr"/>
          <a:lstStyle/>
          <a:p>
            <a:pPr indent="0" marL="0">
              <a:buNone/>
            </a:pPr>
            <a:r>
              <a:rPr lang="en-US" sz="1500" dirty="0">
                <a:solidFill>
                  <a:schemeClr val="tx1"/>
                </a:solidFill>
              </a:rPr>
              <a:t>Calendario de ocupación</a:t>
            </a:r>
            <a:endParaRPr lang="en-US" sz="1500" dirty="0"/>
          </a:p>
        </p:txBody>
      </p:sp>
      <p:sp>
        <p:nvSpPr>
          <p:cNvPr id="14" name="Text 12"/>
          <p:cNvSpPr txBox="1"/>
          <p:nvPr/>
        </p:nvSpPr>
        <p:spPr>
          <a:xfrm>
            <a:off x="5120640" y="3200400"/>
            <a:ext cx="822960" cy="548640"/>
          </a:xfrm>
          <a:prstGeom prst="rect">
            <a:avLst/>
          </a:prstGeom>
          <a:noFill/>
          <a:ln/>
        </p:spPr>
        <p:txBody>
          <a:bodyPr wrap="square" lIns="0" tIns="0" rIns="0" bIns="0" rtlCol="0" anchor="ctr"/>
          <a:lstStyle/>
          <a:p>
            <a:pPr algn="r" indent="0" marL="0">
              <a:buNone/>
            </a:pPr>
            <a:r>
              <a:rPr lang="en-US" sz="1300" dirty="0">
                <a:solidFill>
                  <a:schemeClr val="accent6"/>
                </a:solidFill>
              </a:rPr>
              <a:t>1 min</a:t>
            </a:r>
            <a:endParaRPr lang="en-US" sz="1300" dirty="0"/>
          </a:p>
        </p:txBody>
      </p:sp>
      <p:sp>
        <p:nvSpPr>
          <p:cNvPr id="15" name="Shape 13"/>
          <p:cNvSpPr/>
          <p:nvPr/>
        </p:nvSpPr>
        <p:spPr>
          <a:xfrm>
            <a:off x="548640" y="4114800"/>
            <a:ext cx="548640" cy="548640"/>
          </a:xfrm>
          <a:prstGeom prst="ellipse">
            <a:avLst/>
          </a:prstGeom>
          <a:solidFill>
            <a:schemeClr val="tx2"/>
          </a:solidFill>
          <a:ln w="12700">
            <a:solidFill>
              <a:schemeClr val="tx2"/>
            </a:solidFill>
            <a:prstDash val="solid"/>
          </a:ln>
        </p:spPr>
      </p:sp>
      <p:sp>
        <p:nvSpPr>
          <p:cNvPr id="16" name="Text 14"/>
          <p:cNvSpPr txBox="1"/>
          <p:nvPr/>
        </p:nvSpPr>
        <p:spPr>
          <a:xfrm>
            <a:off x="548640" y="411480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7" name="Text 15"/>
          <p:cNvSpPr txBox="1"/>
          <p:nvPr/>
        </p:nvSpPr>
        <p:spPr>
          <a:xfrm>
            <a:off x="1280160" y="4114800"/>
            <a:ext cx="3931920" cy="548640"/>
          </a:xfrm>
          <a:prstGeom prst="rect">
            <a:avLst/>
          </a:prstGeom>
          <a:noFill/>
          <a:ln/>
        </p:spPr>
        <p:txBody>
          <a:bodyPr wrap="square" lIns="0" tIns="0" rIns="0" bIns="0" rtlCol="0" anchor="ctr"/>
          <a:lstStyle/>
          <a:p>
            <a:pPr indent="0" marL="0">
              <a:buNone/>
            </a:pPr>
            <a:r>
              <a:rPr lang="en-US" sz="1500" dirty="0">
                <a:solidFill>
                  <a:schemeClr val="tx1"/>
                </a:solidFill>
              </a:rPr>
              <a:t>Reserva con tarifa real: puente, adicional, IVA</a:t>
            </a:r>
            <a:endParaRPr lang="en-US" sz="1500" dirty="0"/>
          </a:p>
        </p:txBody>
      </p:sp>
      <p:sp>
        <p:nvSpPr>
          <p:cNvPr id="18" name="Text 16"/>
          <p:cNvSpPr txBox="1"/>
          <p:nvPr/>
        </p:nvSpPr>
        <p:spPr>
          <a:xfrm>
            <a:off x="5120640" y="4114800"/>
            <a:ext cx="822960" cy="548640"/>
          </a:xfrm>
          <a:prstGeom prst="rect">
            <a:avLst/>
          </a:prstGeom>
          <a:noFill/>
          <a:ln/>
        </p:spPr>
        <p:txBody>
          <a:bodyPr wrap="square" lIns="0" tIns="0" rIns="0" bIns="0" rtlCol="0" anchor="ctr"/>
          <a:lstStyle/>
          <a:p>
            <a:pPr algn="r" indent="0" marL="0">
              <a:buNone/>
            </a:pPr>
            <a:r>
              <a:rPr lang="en-US" sz="1300" dirty="0">
                <a:solidFill>
                  <a:schemeClr val="accent6"/>
                </a:solidFill>
              </a:rPr>
              <a:t>3 min</a:t>
            </a:r>
            <a:endParaRPr lang="en-US" sz="1300" dirty="0"/>
          </a:p>
        </p:txBody>
      </p:sp>
      <p:sp>
        <p:nvSpPr>
          <p:cNvPr id="19" name="Shape 17"/>
          <p:cNvSpPr/>
          <p:nvPr/>
        </p:nvSpPr>
        <p:spPr>
          <a:xfrm>
            <a:off x="548640" y="5029200"/>
            <a:ext cx="548640" cy="548640"/>
          </a:xfrm>
          <a:prstGeom prst="ellipse">
            <a:avLst/>
          </a:prstGeom>
          <a:solidFill>
            <a:schemeClr val="tx2"/>
          </a:solidFill>
          <a:ln w="12700">
            <a:solidFill>
              <a:schemeClr val="tx2"/>
            </a:solidFill>
            <a:prstDash val="solid"/>
          </a:ln>
        </p:spPr>
      </p:sp>
      <p:sp>
        <p:nvSpPr>
          <p:cNvPr id="20" name="Text 18"/>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5</a:t>
            </a:r>
            <a:endParaRPr lang="en-US" sz="1600" dirty="0"/>
          </a:p>
        </p:txBody>
      </p:sp>
      <p:sp>
        <p:nvSpPr>
          <p:cNvPr id="21" name="Text 19"/>
          <p:cNvSpPr txBox="1"/>
          <p:nvPr/>
        </p:nvSpPr>
        <p:spPr>
          <a:xfrm>
            <a:off x="1280160" y="5029200"/>
            <a:ext cx="3931920" cy="548640"/>
          </a:xfrm>
          <a:prstGeom prst="rect">
            <a:avLst/>
          </a:prstGeom>
          <a:noFill/>
          <a:ln/>
        </p:spPr>
        <p:txBody>
          <a:bodyPr wrap="square" lIns="0" tIns="0" rIns="0" bIns="0" rtlCol="0" anchor="ctr"/>
          <a:lstStyle/>
          <a:p>
            <a:pPr indent="0" marL="0">
              <a:buNone/>
            </a:pPr>
            <a:r>
              <a:rPr lang="en-US" sz="1500" dirty="0">
                <a:solidFill>
                  <a:schemeClr val="tx1"/>
                </a:solidFill>
              </a:rPr>
              <a:t>No vender dos veces: intento solapado → 409</a:t>
            </a:r>
            <a:endParaRPr lang="en-US" sz="1500" dirty="0"/>
          </a:p>
        </p:txBody>
      </p:sp>
      <p:sp>
        <p:nvSpPr>
          <p:cNvPr id="22" name="Text 20"/>
          <p:cNvSpPr txBox="1"/>
          <p:nvPr/>
        </p:nvSpPr>
        <p:spPr>
          <a:xfrm>
            <a:off x="5120640" y="5029200"/>
            <a:ext cx="822960" cy="548640"/>
          </a:xfrm>
          <a:prstGeom prst="rect">
            <a:avLst/>
          </a:prstGeom>
          <a:noFill/>
          <a:ln/>
        </p:spPr>
        <p:txBody>
          <a:bodyPr wrap="square" lIns="0" tIns="0" rIns="0" bIns="0" rtlCol="0" anchor="ctr"/>
          <a:lstStyle/>
          <a:p>
            <a:pPr algn="r" indent="0" marL="0">
              <a:buNone/>
            </a:pPr>
            <a:r>
              <a:rPr lang="en-US" sz="1300" dirty="0">
                <a:solidFill>
                  <a:schemeClr val="accent6"/>
                </a:solidFill>
              </a:rPr>
              <a:t>2 min</a:t>
            </a:r>
            <a:endParaRPr lang="en-US" sz="1300" dirty="0"/>
          </a:p>
        </p:txBody>
      </p:sp>
      <p:sp>
        <p:nvSpPr>
          <p:cNvPr id="23" name="Shape 21"/>
          <p:cNvSpPr/>
          <p:nvPr/>
        </p:nvSpPr>
        <p:spPr>
          <a:xfrm>
            <a:off x="6263640" y="1371600"/>
            <a:ext cx="548640" cy="548640"/>
          </a:xfrm>
          <a:prstGeom prst="ellipse">
            <a:avLst/>
          </a:prstGeom>
          <a:solidFill>
            <a:schemeClr val="tx2"/>
          </a:solidFill>
          <a:ln w="12700">
            <a:solidFill>
              <a:schemeClr val="tx2"/>
            </a:solidFill>
            <a:prstDash val="solid"/>
          </a:ln>
        </p:spPr>
      </p:sp>
      <p:sp>
        <p:nvSpPr>
          <p:cNvPr id="24" name="Text 22"/>
          <p:cNvSpPr txBox="1"/>
          <p:nvPr/>
        </p:nvSpPr>
        <p:spPr>
          <a:xfrm>
            <a:off x="6263640" y="137160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6</a:t>
            </a:r>
            <a:endParaRPr lang="en-US" sz="1600" dirty="0"/>
          </a:p>
        </p:txBody>
      </p:sp>
      <p:sp>
        <p:nvSpPr>
          <p:cNvPr id="25" name="Text 23"/>
          <p:cNvSpPr txBox="1"/>
          <p:nvPr/>
        </p:nvSpPr>
        <p:spPr>
          <a:xfrm>
            <a:off x="6995160" y="1371600"/>
            <a:ext cx="3931920" cy="548640"/>
          </a:xfrm>
          <a:prstGeom prst="rect">
            <a:avLst/>
          </a:prstGeom>
          <a:noFill/>
          <a:ln/>
        </p:spPr>
        <p:txBody>
          <a:bodyPr wrap="square" lIns="0" tIns="0" rIns="0" bIns="0" rtlCol="0" anchor="ctr"/>
          <a:lstStyle/>
          <a:p>
            <a:pPr indent="0" marL="0">
              <a:buNone/>
            </a:pPr>
            <a:r>
              <a:rPr lang="en-US" sz="1500" dirty="0">
                <a:solidFill>
                  <a:schemeClr val="tx1"/>
                </a:solidFill>
              </a:rPr>
              <a:t>Folio y check-out</a:t>
            </a:r>
            <a:endParaRPr lang="en-US" sz="1500" dirty="0"/>
          </a:p>
        </p:txBody>
      </p:sp>
      <p:sp>
        <p:nvSpPr>
          <p:cNvPr id="26" name="Text 24"/>
          <p:cNvSpPr txBox="1"/>
          <p:nvPr/>
        </p:nvSpPr>
        <p:spPr>
          <a:xfrm>
            <a:off x="10835640" y="1371600"/>
            <a:ext cx="822960" cy="548640"/>
          </a:xfrm>
          <a:prstGeom prst="rect">
            <a:avLst/>
          </a:prstGeom>
          <a:noFill/>
          <a:ln/>
        </p:spPr>
        <p:txBody>
          <a:bodyPr wrap="square" lIns="0" tIns="0" rIns="0" bIns="0" rtlCol="0" anchor="ctr"/>
          <a:lstStyle/>
          <a:p>
            <a:pPr algn="r" indent="0" marL="0">
              <a:buNone/>
            </a:pPr>
            <a:r>
              <a:rPr lang="en-US" sz="1300" dirty="0">
                <a:solidFill>
                  <a:schemeClr val="accent6"/>
                </a:solidFill>
              </a:rPr>
              <a:t>2 min</a:t>
            </a:r>
            <a:endParaRPr lang="en-US" sz="1300" dirty="0"/>
          </a:p>
        </p:txBody>
      </p:sp>
      <p:sp>
        <p:nvSpPr>
          <p:cNvPr id="27" name="Shape 25"/>
          <p:cNvSpPr/>
          <p:nvPr/>
        </p:nvSpPr>
        <p:spPr>
          <a:xfrm>
            <a:off x="6263640" y="2286000"/>
            <a:ext cx="548640" cy="548640"/>
          </a:xfrm>
          <a:prstGeom prst="ellipse">
            <a:avLst/>
          </a:prstGeom>
          <a:solidFill>
            <a:schemeClr val="tx2"/>
          </a:solidFill>
          <a:ln w="12700">
            <a:solidFill>
              <a:schemeClr val="tx2"/>
            </a:solidFill>
            <a:prstDash val="solid"/>
          </a:ln>
        </p:spPr>
      </p:sp>
      <p:sp>
        <p:nvSpPr>
          <p:cNvPr id="28" name="Text 26"/>
          <p:cNvSpPr txBox="1"/>
          <p:nvPr/>
        </p:nvSpPr>
        <p:spPr>
          <a:xfrm>
            <a:off x="6263640" y="228600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7</a:t>
            </a:r>
            <a:endParaRPr lang="en-US" sz="1600" dirty="0"/>
          </a:p>
        </p:txBody>
      </p:sp>
      <p:sp>
        <p:nvSpPr>
          <p:cNvPr id="29" name="Text 27"/>
          <p:cNvSpPr txBox="1"/>
          <p:nvPr/>
        </p:nvSpPr>
        <p:spPr>
          <a:xfrm>
            <a:off x="6995160" y="2286000"/>
            <a:ext cx="3931920" cy="548640"/>
          </a:xfrm>
          <a:prstGeom prst="rect">
            <a:avLst/>
          </a:prstGeom>
          <a:noFill/>
          <a:ln/>
        </p:spPr>
        <p:txBody>
          <a:bodyPr wrap="square" lIns="0" tIns="0" rIns="0" bIns="0" rtlCol="0" anchor="ctr"/>
          <a:lstStyle/>
          <a:p>
            <a:pPr indent="0" marL="0">
              <a:buNone/>
            </a:pPr>
            <a:r>
              <a:rPr lang="en-US" sz="1500" dirty="0">
                <a:solidFill>
                  <a:schemeClr val="tx1"/>
                </a:solidFill>
              </a:rPr>
              <a:t>Cancelaciones y no-shows</a:t>
            </a:r>
            <a:endParaRPr lang="en-US" sz="1500" dirty="0"/>
          </a:p>
        </p:txBody>
      </p:sp>
      <p:sp>
        <p:nvSpPr>
          <p:cNvPr id="30" name="Text 28"/>
          <p:cNvSpPr txBox="1"/>
          <p:nvPr/>
        </p:nvSpPr>
        <p:spPr>
          <a:xfrm>
            <a:off x="10835640" y="2286000"/>
            <a:ext cx="822960" cy="548640"/>
          </a:xfrm>
          <a:prstGeom prst="rect">
            <a:avLst/>
          </a:prstGeom>
          <a:noFill/>
          <a:ln/>
        </p:spPr>
        <p:txBody>
          <a:bodyPr wrap="square" lIns="0" tIns="0" rIns="0" bIns="0" rtlCol="0" anchor="ctr"/>
          <a:lstStyle/>
          <a:p>
            <a:pPr algn="r" indent="0" marL="0">
              <a:buNone/>
            </a:pPr>
            <a:r>
              <a:rPr lang="en-US" sz="1300" dirty="0">
                <a:solidFill>
                  <a:schemeClr val="accent6"/>
                </a:solidFill>
              </a:rPr>
              <a:t>1 min</a:t>
            </a:r>
            <a:endParaRPr lang="en-US" sz="1300" dirty="0"/>
          </a:p>
        </p:txBody>
      </p:sp>
      <p:sp>
        <p:nvSpPr>
          <p:cNvPr id="31" name="Shape 29"/>
          <p:cNvSpPr/>
          <p:nvPr/>
        </p:nvSpPr>
        <p:spPr>
          <a:xfrm>
            <a:off x="6263640" y="3200400"/>
            <a:ext cx="548640" cy="548640"/>
          </a:xfrm>
          <a:prstGeom prst="ellipse">
            <a:avLst/>
          </a:prstGeom>
          <a:solidFill>
            <a:schemeClr val="tx2"/>
          </a:solidFill>
          <a:ln w="12700">
            <a:solidFill>
              <a:schemeClr val="tx2"/>
            </a:solidFill>
            <a:prstDash val="solid"/>
          </a:ln>
        </p:spPr>
      </p:sp>
      <p:sp>
        <p:nvSpPr>
          <p:cNvPr id="32" name="Text 30"/>
          <p:cNvSpPr txBox="1"/>
          <p:nvPr/>
        </p:nvSpPr>
        <p:spPr>
          <a:xfrm>
            <a:off x="6263640" y="320040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8</a:t>
            </a:r>
            <a:endParaRPr lang="en-US" sz="1600" dirty="0"/>
          </a:p>
        </p:txBody>
      </p:sp>
      <p:sp>
        <p:nvSpPr>
          <p:cNvPr id="33" name="Text 31"/>
          <p:cNvSpPr txBox="1"/>
          <p:nvPr/>
        </p:nvSpPr>
        <p:spPr>
          <a:xfrm>
            <a:off x="6995160" y="3200400"/>
            <a:ext cx="3931920" cy="548640"/>
          </a:xfrm>
          <a:prstGeom prst="rect">
            <a:avLst/>
          </a:prstGeom>
          <a:noFill/>
          <a:ln/>
        </p:spPr>
        <p:txBody>
          <a:bodyPr wrap="square" lIns="0" tIns="0" rIns="0" bIns="0" rtlCol="0" anchor="ctr"/>
          <a:lstStyle/>
          <a:p>
            <a:pPr indent="0" marL="0">
              <a:buNone/>
            </a:pPr>
            <a:r>
              <a:rPr lang="en-US" sz="1500" dirty="0">
                <a:solidFill>
                  <a:schemeClr val="tx1"/>
                </a:solidFill>
              </a:rPr>
              <a:t>Auditoría, usuarios y tarifas (admin)</a:t>
            </a:r>
            <a:endParaRPr lang="en-US" sz="1500" dirty="0"/>
          </a:p>
        </p:txBody>
      </p:sp>
      <p:sp>
        <p:nvSpPr>
          <p:cNvPr id="34" name="Text 32"/>
          <p:cNvSpPr txBox="1"/>
          <p:nvPr/>
        </p:nvSpPr>
        <p:spPr>
          <a:xfrm>
            <a:off x="10835640" y="3200400"/>
            <a:ext cx="822960" cy="548640"/>
          </a:xfrm>
          <a:prstGeom prst="rect">
            <a:avLst/>
          </a:prstGeom>
          <a:noFill/>
          <a:ln/>
        </p:spPr>
        <p:txBody>
          <a:bodyPr wrap="square" lIns="0" tIns="0" rIns="0" bIns="0" rtlCol="0" anchor="ctr"/>
          <a:lstStyle/>
          <a:p>
            <a:pPr algn="r" indent="0" marL="0">
              <a:buNone/>
            </a:pPr>
            <a:r>
              <a:rPr lang="en-US" sz="1300" dirty="0">
                <a:solidFill>
                  <a:schemeClr val="accent6"/>
                </a:solidFill>
              </a:rPr>
              <a:t>2 min</a:t>
            </a:r>
            <a:endParaRPr lang="en-US" sz="1300" dirty="0"/>
          </a:p>
        </p:txBody>
      </p:sp>
      <p:sp>
        <p:nvSpPr>
          <p:cNvPr id="35" name="Shape 33"/>
          <p:cNvSpPr/>
          <p:nvPr/>
        </p:nvSpPr>
        <p:spPr>
          <a:xfrm>
            <a:off x="6263640" y="4114800"/>
            <a:ext cx="548640" cy="548640"/>
          </a:xfrm>
          <a:prstGeom prst="ellipse">
            <a:avLst/>
          </a:prstGeom>
          <a:solidFill>
            <a:schemeClr val="tx2"/>
          </a:solidFill>
          <a:ln w="12700">
            <a:solidFill>
              <a:schemeClr val="tx2"/>
            </a:solidFill>
            <a:prstDash val="solid"/>
          </a:ln>
        </p:spPr>
      </p:sp>
      <p:sp>
        <p:nvSpPr>
          <p:cNvPr id="36" name="Text 34"/>
          <p:cNvSpPr txBox="1"/>
          <p:nvPr/>
        </p:nvSpPr>
        <p:spPr>
          <a:xfrm>
            <a:off x="6263640" y="4114800"/>
            <a:ext cx="548640" cy="548640"/>
          </a:xfrm>
          <a:prstGeom prst="rect">
            <a:avLst/>
          </a:prstGeom>
          <a:noFill/>
          <a:ln/>
        </p:spPr>
        <p:txBody>
          <a:bodyPr wrap="square" lIns="0" tIns="0" rIns="0" bIns="0" rtlCol="0" anchor="ctr"/>
          <a:lstStyle/>
          <a:p>
            <a:pPr algn="ctr" indent="0" marL="0">
              <a:buNone/>
            </a:pPr>
            <a:r>
              <a:rPr lang="en-US" sz="1600" b="1" dirty="0">
                <a:solidFill>
                  <a:schemeClr val="accent1"/>
                </a:solidFill>
              </a:rPr>
              <a:t>9</a:t>
            </a:r>
            <a:endParaRPr lang="en-US" sz="1600" dirty="0"/>
          </a:p>
        </p:txBody>
      </p:sp>
      <p:sp>
        <p:nvSpPr>
          <p:cNvPr id="37" name="Text 35"/>
          <p:cNvSpPr txBox="1"/>
          <p:nvPr/>
        </p:nvSpPr>
        <p:spPr>
          <a:xfrm>
            <a:off x="6995160" y="4114800"/>
            <a:ext cx="3931920" cy="548640"/>
          </a:xfrm>
          <a:prstGeom prst="rect">
            <a:avLst/>
          </a:prstGeom>
          <a:noFill/>
          <a:ln/>
        </p:spPr>
        <p:txBody>
          <a:bodyPr wrap="square" lIns="0" tIns="0" rIns="0" bIns="0" rtlCol="0" anchor="ctr"/>
          <a:lstStyle/>
          <a:p>
            <a:pPr indent="0" marL="0">
              <a:buNone/>
            </a:pPr>
            <a:r>
              <a:rPr lang="en-US" sz="1500" dirty="0">
                <a:solidFill>
                  <a:schemeClr val="tx1"/>
                </a:solidFill>
              </a:rPr>
              <a:t>Cierre: arquitectura y hoja de ruta</a:t>
            </a:r>
            <a:endParaRPr lang="en-US" sz="1500" dirty="0"/>
          </a:p>
        </p:txBody>
      </p:sp>
      <p:sp>
        <p:nvSpPr>
          <p:cNvPr id="38" name="Text 36"/>
          <p:cNvSpPr txBox="1"/>
          <p:nvPr/>
        </p:nvSpPr>
        <p:spPr>
          <a:xfrm>
            <a:off x="10835640" y="4114800"/>
            <a:ext cx="822960" cy="548640"/>
          </a:xfrm>
          <a:prstGeom prst="rect">
            <a:avLst/>
          </a:prstGeom>
          <a:noFill/>
          <a:ln/>
        </p:spPr>
        <p:txBody>
          <a:bodyPr wrap="square" lIns="0" tIns="0" rIns="0" bIns="0" rtlCol="0" anchor="ctr"/>
          <a:lstStyle/>
          <a:p>
            <a:pPr algn="r" indent="0" marL="0">
              <a:buNone/>
            </a:pPr>
            <a:r>
              <a:rPr lang="en-US" sz="1300" dirty="0">
                <a:solidFill>
                  <a:schemeClr val="accent6"/>
                </a:solidFill>
              </a:rPr>
              <a:t>1 min</a:t>
            </a:r>
            <a:endParaRPr lang="en-US" sz="1300" dirty="0"/>
          </a:p>
        </p:txBody>
      </p:sp>
      <p:sp>
        <p:nvSpPr>
          <p:cNvPr id="39" name="Text 37"/>
          <p:cNvSpPr txBox="1"/>
          <p:nvPr/>
        </p:nvSpPr>
        <p:spPr>
          <a:xfrm>
            <a:off x="6263640" y="5486400"/>
            <a:ext cx="5349240" cy="594360"/>
          </a:xfrm>
          <a:prstGeom prst="rect">
            <a:avLst/>
          </a:prstGeom>
          <a:noFill/>
          <a:ln/>
        </p:spPr>
        <p:txBody>
          <a:bodyPr wrap="square" lIns="0" tIns="0" rIns="0" bIns="0" rtlCol="0" anchor="t"/>
          <a:lstStyle/>
          <a:p>
            <a:pPr indent="0" marL="0">
              <a:buNone/>
            </a:pPr>
            <a:r>
              <a:rPr lang="en-US" sz="1200" i="1" dirty="0">
                <a:solidFill>
                  <a:schemeClr val="accent6"/>
                </a:solidFill>
              </a:rPr>
              <a:t>Antes de empezar: docker compose --profile demo up -d --build  y reiniciar el seed (fechas relativas a hoy).</a:t>
            </a:r>
            <a:endParaRPr lang="en-US" sz="12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640080"/>
            <a:ext cx="685800" cy="685800"/>
          </a:xfrm>
          <a:prstGeom prst="rect">
            <a:avLst/>
          </a:prstGeom>
        </p:spPr>
      </p:pic>
      <p:sp>
        <p:nvSpPr>
          <p:cNvPr id="3" name="Text 0"/>
          <p:cNvSpPr/>
          <p:nvPr>
            <p:ph idx="100" type="title" hasCustomPrompt="1"/>
          </p:nvPr>
        </p:nvSpPr>
        <p:spPr>
          <a:xfrm>
            <a:off x="640080" y="2011680"/>
            <a:ext cx="5852160" cy="173736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Un problema real del negocio, resuelto y probado</a:t>
            </a:r>
            <a:endParaRPr lang="en-US" sz="4000" dirty="0"/>
          </a:p>
        </p:txBody>
      </p:sp>
      <p:sp>
        <p:nvSpPr>
          <p:cNvPr id="4" name="Text 0"/>
          <p:cNvSpPr/>
          <p:nvPr>
            <p:ph idx="101" type="body" hasCustomPrompt="1"/>
          </p:nvPr>
        </p:nvSpPr>
        <p:spPr>
          <a:xfrm>
            <a:off x="640080" y="3931920"/>
            <a:ext cx="5669280" cy="1280160"/>
          </a:xfrm>
          <a:prstGeom prst="rect">
            <a:avLst/>
          </a:prstGeom>
          <a:noFill/>
          <a:ln/>
        </p:spPr>
        <p:txBody>
          <a:bodyPr wrap="square" lIns="0" tIns="0" rIns="0" bIns="0" rtlCol="0" anchor="t"/>
          <a:lstStyle/>
          <a:p>
            <a:pPr indent="0" marL="0">
              <a:buNone/>
            </a:pPr>
            <a:r>
              <a:rPr lang="en-US" sz="1800" dirty="0">
                <a:solidFill>
                  <a:srgbClr val="D6DCE6"/>
                </a:solidFill>
              </a:rPr>
              <a:t>Cada regla crítica está garantizada donde debe estarlo y demostrada con pruebas automáticas. ¿Preguntas?</a:t>
            </a:r>
            <a:endParaRPr lang="en-US" sz="1800" dirty="0"/>
          </a:p>
        </p:txBody>
      </p:sp>
      <p:sp>
        <p:nvSpPr>
          <p:cNvPr id="5" name="Shape 2"/>
          <p:cNvSpPr/>
          <p:nvPr/>
        </p:nvSpPr>
        <p:spPr>
          <a:xfrm>
            <a:off x="7315200" y="1371600"/>
            <a:ext cx="4297680" cy="1234440"/>
          </a:xfrm>
          <a:prstGeom prst="roundRect">
            <a:avLst>
              <a:gd name="adj" fmla="val 8889"/>
            </a:avLst>
          </a:prstGeom>
          <a:solidFill>
            <a:srgbClr val="16263D"/>
          </a:solidFill>
          <a:ln w="12700">
            <a:solidFill>
              <a:srgbClr val="16263D"/>
            </a:solidFill>
            <a:prstDash val="solid"/>
          </a:ln>
        </p:spPr>
      </p:sp>
      <p:sp>
        <p:nvSpPr>
          <p:cNvPr id="6" name="Text 3"/>
          <p:cNvSpPr txBox="1"/>
          <p:nvPr/>
        </p:nvSpPr>
        <p:spPr>
          <a:xfrm>
            <a:off x="7543800" y="1371600"/>
            <a:ext cx="1463040" cy="12344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36</a:t>
            </a:r>
            <a:endParaRPr lang="en-US" sz="4000" dirty="0"/>
          </a:p>
        </p:txBody>
      </p:sp>
      <p:sp>
        <p:nvSpPr>
          <p:cNvPr id="7" name="Text 4"/>
          <p:cNvSpPr txBox="1"/>
          <p:nvPr/>
        </p:nvSpPr>
        <p:spPr>
          <a:xfrm>
            <a:off x="9052560" y="1371600"/>
            <a:ext cx="2377440" cy="1234440"/>
          </a:xfrm>
          <a:prstGeom prst="rect">
            <a:avLst/>
          </a:prstGeom>
          <a:noFill/>
          <a:ln/>
        </p:spPr>
        <p:txBody>
          <a:bodyPr wrap="square" lIns="0" tIns="0" rIns="0" bIns="0" rtlCol="0" anchor="ctr"/>
          <a:lstStyle/>
          <a:p>
            <a:pPr indent="0" marL="0">
              <a:buNone/>
            </a:pPr>
            <a:r>
              <a:rPr lang="en-US" sz="1500" dirty="0">
                <a:solidFill>
                  <a:schemeClr val="bg1"/>
                </a:solidFill>
              </a:rPr>
              <a:t>reglas de negocio documentadas</a:t>
            </a:r>
            <a:endParaRPr lang="en-US" sz="1500" dirty="0"/>
          </a:p>
        </p:txBody>
      </p:sp>
      <p:sp>
        <p:nvSpPr>
          <p:cNvPr id="8" name="Shape 5"/>
          <p:cNvSpPr/>
          <p:nvPr/>
        </p:nvSpPr>
        <p:spPr>
          <a:xfrm>
            <a:off x="7315200" y="2834640"/>
            <a:ext cx="4297680" cy="1234440"/>
          </a:xfrm>
          <a:prstGeom prst="roundRect">
            <a:avLst>
              <a:gd name="adj" fmla="val 8889"/>
            </a:avLst>
          </a:prstGeom>
          <a:solidFill>
            <a:srgbClr val="16263D"/>
          </a:solidFill>
          <a:ln w="12700">
            <a:solidFill>
              <a:srgbClr val="16263D"/>
            </a:solidFill>
            <a:prstDash val="solid"/>
          </a:ln>
        </p:spPr>
      </p:sp>
      <p:sp>
        <p:nvSpPr>
          <p:cNvPr id="9" name="Text 6"/>
          <p:cNvSpPr txBox="1"/>
          <p:nvPr/>
        </p:nvSpPr>
        <p:spPr>
          <a:xfrm>
            <a:off x="7543800" y="2834640"/>
            <a:ext cx="1463040" cy="12344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196</a:t>
            </a:r>
            <a:endParaRPr lang="en-US" sz="4000" dirty="0"/>
          </a:p>
        </p:txBody>
      </p:sp>
      <p:sp>
        <p:nvSpPr>
          <p:cNvPr id="10" name="Text 7"/>
          <p:cNvSpPr txBox="1"/>
          <p:nvPr/>
        </p:nvSpPr>
        <p:spPr>
          <a:xfrm>
            <a:off x="9052560" y="2834640"/>
            <a:ext cx="2377440" cy="1234440"/>
          </a:xfrm>
          <a:prstGeom prst="rect">
            <a:avLst/>
          </a:prstGeom>
          <a:noFill/>
          <a:ln/>
        </p:spPr>
        <p:txBody>
          <a:bodyPr wrap="square" lIns="0" tIns="0" rIns="0" bIns="0" rtlCol="0" anchor="ctr"/>
          <a:lstStyle/>
          <a:p>
            <a:pPr indent="0" marL="0">
              <a:buNone/>
            </a:pPr>
            <a:r>
              <a:rPr lang="en-US" sz="1500" dirty="0">
                <a:solidFill>
                  <a:schemeClr val="bg1"/>
                </a:solidFill>
              </a:rPr>
              <a:t>pruebas automáticas en verde</a:t>
            </a:r>
            <a:endParaRPr lang="en-US" sz="1500" dirty="0"/>
          </a:p>
        </p:txBody>
      </p:sp>
      <p:sp>
        <p:nvSpPr>
          <p:cNvPr id="11" name="Shape 8"/>
          <p:cNvSpPr/>
          <p:nvPr/>
        </p:nvSpPr>
        <p:spPr>
          <a:xfrm>
            <a:off x="7315200" y="4297680"/>
            <a:ext cx="4297680" cy="1234440"/>
          </a:xfrm>
          <a:prstGeom prst="roundRect">
            <a:avLst>
              <a:gd name="adj" fmla="val 8889"/>
            </a:avLst>
          </a:prstGeom>
          <a:solidFill>
            <a:srgbClr val="16263D"/>
          </a:solidFill>
          <a:ln w="12700">
            <a:solidFill>
              <a:srgbClr val="16263D"/>
            </a:solidFill>
            <a:prstDash val="solid"/>
          </a:ln>
        </p:spPr>
      </p:sp>
      <p:sp>
        <p:nvSpPr>
          <p:cNvPr id="12" name="Text 9"/>
          <p:cNvSpPr txBox="1"/>
          <p:nvPr/>
        </p:nvSpPr>
        <p:spPr>
          <a:xfrm>
            <a:off x="7543800" y="4297680"/>
            <a:ext cx="1463040" cy="12344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13" name="Text 10"/>
          <p:cNvSpPr txBox="1"/>
          <p:nvPr/>
        </p:nvSpPr>
        <p:spPr>
          <a:xfrm>
            <a:off x="9052560" y="4297680"/>
            <a:ext cx="2377440" cy="1234440"/>
          </a:xfrm>
          <a:prstGeom prst="rect">
            <a:avLst/>
          </a:prstGeom>
          <a:noFill/>
          <a:ln/>
        </p:spPr>
        <p:txBody>
          <a:bodyPr wrap="square" lIns="0" tIns="0" rIns="0" bIns="0" rtlCol="0" anchor="ctr"/>
          <a:lstStyle/>
          <a:p>
            <a:pPr indent="0" marL="0">
              <a:buNone/>
            </a:pPr>
            <a:r>
              <a:rPr lang="en-US" sz="1500" dirty="0">
                <a:solidFill>
                  <a:schemeClr val="bg1"/>
                </a:solidFill>
              </a:rPr>
              <a:t>sobreventas posibles, incluso con concurrencia</a:t>
            </a:r>
            <a:endParaRPr lang="en-US" sz="1500" dirty="0"/>
          </a:p>
        </p:txBody>
      </p:sp>
    </p:spTree>
  </p:cSld>
  <p:clrMapOvr>
    <a:masterClrMapping/>
  </p:clrMapOvr>
</p:sld>
</file>

<file path=ppt/theme/theme1.xml><?xml version="1.0" encoding="utf-8"?>
<a:theme xmlns:a="http://schemas.openxmlformats.org/drawingml/2006/main" name="MVP Hotel">
  <a:themeElements>
    <a:clrScheme name="MVP Hotel">
      <a:dk1>
        <a:srgbClr val="1C2433"/>
      </a:dk1>
      <a:lt1>
        <a:srgbClr val="FFFFFF"/>
      </a:lt1>
      <a:dk2>
        <a:srgbClr val="0F1B2D"/>
      </a:dk2>
      <a:lt2>
        <a:srgbClr val="F1F4F8"/>
      </a:lt2>
      <a:accent1>
        <a:srgbClr val="C9A227"/>
      </a:accent1>
      <a:accent2>
        <a:srgbClr val="1E3A5F"/>
      </a:accent2>
      <a:accent3>
        <a:srgbClr val="3D5A80"/>
      </a:accent3>
      <a:accent4>
        <a:srgbClr val="1E6B3A"/>
      </a:accent4>
      <a:accent5>
        <a:srgbClr val="9B2C2C"/>
      </a:accent5>
      <a:accent6>
        <a:srgbClr val="6B7280"/>
      </a:accent6>
      <a:hlink>
        <a:srgbClr val="1E3A5F"/>
      </a:hlink>
      <a:folHlink>
        <a:srgbClr val="3D5A80"/>
      </a:folHlink>
    </a:clrScheme>
    <a:fontScheme name="MVP Hot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Lazaro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Módulo hotelero para Lazaro Software</dc:title>
  <dc:subject>PptxGenJS Presentation</dc:subject>
  <dc:creator>Equipo MVP Hotel</dc:creator>
  <cp:lastModifiedBy>Equipo MVP Hotel</cp:lastModifiedBy>
  <cp:revision>1</cp:revision>
  <dcterms:created xsi:type="dcterms:W3CDTF">2026-10-14T12:29:23Z</dcterms:created>
  <dcterms:modified xsi:type="dcterms:W3CDTF">2026-10-14T12:29:23Z</dcterms:modified>
</cp:coreProperties>
</file>